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4" r:id="rId2"/>
    <p:sldId id="266" r:id="rId3"/>
    <p:sldId id="281" r:id="rId4"/>
    <p:sldId id="280" r:id="rId5"/>
    <p:sldId id="268" r:id="rId6"/>
    <p:sldId id="277" r:id="rId7"/>
    <p:sldId id="265" r:id="rId8"/>
    <p:sldId id="282" r:id="rId9"/>
    <p:sldId id="278" r:id="rId10"/>
    <p:sldId id="283" r:id="rId11"/>
    <p:sldId id="284" r:id="rId12"/>
    <p:sldId id="285" r:id="rId13"/>
    <p:sldId id="270" r:id="rId14"/>
    <p:sldId id="271" r:id="rId15"/>
    <p:sldId id="279" r:id="rId16"/>
    <p:sldId id="274" r:id="rId17"/>
    <p:sldId id="263" r:id="rId18"/>
  </p:sldIdLst>
  <p:sldSz cx="9144000" cy="5143500" type="screen16x9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94" userDrawn="1">
          <p15:clr>
            <a:srgbClr val="A4A3A4"/>
          </p15:clr>
        </p15:guide>
        <p15:guide id="4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5" autoAdjust="0"/>
    <p:restoredTop sz="94712" autoAdjust="0"/>
  </p:normalViewPr>
  <p:slideViewPr>
    <p:cSldViewPr snapToGrid="0">
      <p:cViewPr varScale="1">
        <p:scale>
          <a:sx n="144" d="100"/>
          <a:sy n="144" d="100"/>
        </p:scale>
        <p:origin x="576" y="120"/>
      </p:cViewPr>
      <p:guideLst>
        <p:guide pos="2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33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313" y="243069"/>
            <a:ext cx="5903912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en-US" b="1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3506" y="8777812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5ED5F780-471C-4CCE-BB88-8634FF48E50C}" type="datetime1">
              <a:rPr lang="de-DE" sz="800" smtClean="0"/>
              <a:t>10.09.2025</a:t>
            </a:fld>
            <a:endParaRPr lang="en-US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68313" y="8777813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r>
              <a:rPr lang="en-US" sz="800"/>
              <a:t>Universität Stuttgart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270195" y="8777813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EE9A79A6-2547-4C8F-B0ED-316280A1A122}" type="slidenum">
              <a:rPr lang="en-US" sz="800" smtClean="0"/>
              <a:pPr algn="l"/>
              <a:t>‹Nr.›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61533372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47680" y="256832"/>
            <a:ext cx="6113274" cy="47505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r>
              <a:rPr lang="en-US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2956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C284191B-A352-458B-81F0-1FA2149F7941}" type="datetime1">
              <a:rPr lang="de-DE" smtClean="0"/>
              <a:t>10.09.2025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350" y="1020763"/>
            <a:ext cx="6792913" cy="38211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47992" y="5016760"/>
            <a:ext cx="6112961" cy="364597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23850" y="8776800"/>
            <a:ext cx="464415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120175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/>
            </a:lvl1pPr>
          </a:lstStyle>
          <a:p>
            <a:fld id="{05DD1DF0-DD4E-4B0C-B0FD-D16D9D2A9750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8570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180975" indent="-180975" algn="l" defTabSz="713232" rtl="0" eaLnBrk="1" latinLnBrk="0" hangingPunct="1">
      <a:lnSpc>
        <a:spcPct val="120000"/>
      </a:lnSpc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8775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38163" indent="-179388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19138" indent="-180975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96938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04" userDrawn="1">
          <p15:clr>
            <a:srgbClr val="F26B43"/>
          </p15:clr>
        </p15:guide>
        <p15:guide id="3" pos="408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284191B-A352-458B-81F0-1FA2149F7941}" type="datetime1">
              <a:rPr lang="de-DE" smtClean="0"/>
              <a:t>10.09.2025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22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284191B-A352-458B-81F0-1FA2149F7941}" type="datetime1">
              <a:rPr lang="de-DE" smtClean="0"/>
              <a:t>10.09.2025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11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284191B-A352-458B-81F0-1FA2149F7941}" type="datetime1">
              <a:rPr lang="de-DE" smtClean="0"/>
              <a:t>10.09.2025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911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284191B-A352-458B-81F0-1FA2149F7941}" type="datetime1">
              <a:rPr lang="de-DE" smtClean="0"/>
              <a:t>10.09.2025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8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18916216-B032-4200-99C8-5BA3A21F88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8" y="268958"/>
            <a:ext cx="2136071" cy="43199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72007CB-CD36-48DD-9918-1BFC87D15E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0588" y="580838"/>
            <a:ext cx="1628471" cy="168351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tx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</a:defRPr>
            </a:lvl1pPr>
          </a:lstStyle>
          <a:p>
            <a:pPr marL="0" lvl="0" indent="0"/>
            <a:r>
              <a:rPr lang="de-DE" dirty="0"/>
              <a:t>Barrierefreier  Titel – Text durch Klicken </a:t>
            </a:r>
            <a:br>
              <a:rPr lang="de-DE" dirty="0"/>
            </a:br>
            <a:r>
              <a:rPr lang="de-DE" dirty="0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4682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rrierefrei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18916216-B032-4200-99C8-5BA3A21F88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8" y="268958"/>
            <a:ext cx="2136071" cy="43199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72007CB-CD36-48DD-9918-1BFC87D15E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0588" y="580838"/>
            <a:ext cx="1628471" cy="168351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2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</a:defRPr>
            </a:lvl1pPr>
          </a:lstStyle>
          <a:p>
            <a:pPr marL="0" lvl="0" indent="0"/>
            <a:r>
              <a:rPr lang="de-DE" dirty="0"/>
              <a:t>Barrierefreier  Titel – Text durch Klicken </a:t>
            </a:r>
            <a:br>
              <a:rPr lang="de-DE" dirty="0"/>
            </a:br>
            <a:r>
              <a:rPr lang="de-DE" dirty="0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60803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rrierefrei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18916216-B032-4200-99C8-5BA3A21F88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8" y="268958"/>
            <a:ext cx="2136071" cy="43199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72007CB-CD36-48DD-9918-1BFC87D15E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0588" y="580838"/>
            <a:ext cx="1628471" cy="168351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pPr marL="0" lvl="0" indent="0"/>
            <a:r>
              <a:rPr lang="de-DE"/>
              <a:t>Barrierefreier  Titel – Text durch Klicken </a:t>
            </a:r>
            <a:br>
              <a:rPr lang="de-DE"/>
            </a:br>
            <a:r>
              <a:rPr lang="de-DE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highlight>
                  <a:srgbClr val="000000"/>
                </a:highlight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92527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CA70C5C8-1CB6-4CC4-A9D8-081FC52E5A9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8" y="268958"/>
            <a:ext cx="2136071" cy="43199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Titel 2">
            <a:extLst>
              <a:ext uri="{FF2B5EF4-FFF2-40B4-BE49-F238E27FC236}">
                <a16:creationId xmlns:a16="http://schemas.microsoft.com/office/drawing/2014/main" id="{098769ED-90D0-4473-B1B2-1CE12B519F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de-DE"/>
              <a:t>Titelfolie Institute – Text durch Klicken 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B9FD99DC-C17A-49FB-8F13-40F41E801AB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049410" y="3459060"/>
            <a:ext cx="1548000" cy="15480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9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65687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30BE638A-719E-41CB-B435-44353E5553A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8" y="268958"/>
            <a:ext cx="2136071" cy="431998"/>
          </a:xfrm>
          <a:prstGeom prst="rect">
            <a:avLst/>
          </a:prstGeom>
        </p:spPr>
      </p:pic>
      <p:sp>
        <p:nvSpPr>
          <p:cNvPr id="28" name="Textplatzhalter 9">
            <a:extLst>
              <a:ext uri="{FF2B5EF4-FFF2-40B4-BE49-F238E27FC236}">
                <a16:creationId xmlns:a16="http://schemas.microsoft.com/office/drawing/2014/main" id="{F2727769-9A35-4722-8FB2-4C78D29654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1"/>
            <a:ext cx="9144000" cy="33048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6" name="Titel 2">
            <a:extLst>
              <a:ext uri="{FF2B5EF4-FFF2-40B4-BE49-F238E27FC236}">
                <a16:creationId xmlns:a16="http://schemas.microsoft.com/office/drawing/2014/main" id="{FCF15244-A895-48BB-9A90-27BC5159A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6509" y="488684"/>
            <a:ext cx="3913200" cy="39132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500" baseline="0" dirty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de-DE"/>
              <a:t>Titelfolie 2 Institute – Text durch Klicken hinzufügen</a:t>
            </a:r>
            <a:endParaRPr lang="en-GB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F9C1028-5CF0-4B0B-90F2-2CDD6683E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8866" y="2881993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7" name="Bildplatzhalter 6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298630" y="4694760"/>
            <a:ext cx="1415910" cy="33048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341090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5E028-F200-4ED8-8CC6-0D42239F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8B4599F-1F24-4FF7-8F3E-EDB79B1AB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24A6A03-5D2E-417E-9A62-737D1DBC92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427F68-7D65-4111-9D28-F407D044A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C2B8577-8AB8-42B5-8BA8-1751A41224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45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D0727A05-0C1A-4583-AE41-BB5812D3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0DBE4A7F-2625-4844-8794-CF87BAE82F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6" y="1008000"/>
            <a:ext cx="8243887" cy="3706384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E35B32-06B2-48EF-A04A-BC3F5F4173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A40F854-10E0-4E29-BF41-53A0539FC5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75A3FC3-7E0C-4829-99EC-583BF5DA67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8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89E6229-E650-4C0F-8141-1787714FDD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9949" y="0"/>
            <a:ext cx="6543725" cy="3533140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92756" y="566845"/>
            <a:ext cx="4118110" cy="19943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756" y="809999"/>
            <a:ext cx="4118110" cy="1853687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71076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Unterkap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22803" y="1749602"/>
            <a:ext cx="3026729" cy="19943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Unterkapitel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802" y="2025000"/>
            <a:ext cx="5526581" cy="810000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17826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15285CE5-013A-4554-99D3-E6E1B753071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255" y="-1"/>
            <a:ext cx="7842289" cy="4234271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6" name="object 3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700215" y="2594272"/>
            <a:ext cx="2049145" cy="2048400"/>
          </a:xfrm>
          <a:custGeom>
            <a:avLst/>
            <a:gdLst/>
            <a:ahLst/>
            <a:cxnLst/>
            <a:rect l="l" t="t" r="r" b="b"/>
            <a:pathLst>
              <a:path w="2049145" h="2049145">
                <a:moveTo>
                  <a:pt x="1024432" y="0"/>
                </a:moveTo>
                <a:lnTo>
                  <a:pt x="940414" y="3395"/>
                </a:lnTo>
                <a:lnTo>
                  <a:pt x="858266" y="13407"/>
                </a:lnTo>
                <a:lnTo>
                  <a:pt x="778251" y="29772"/>
                </a:lnTo>
                <a:lnTo>
                  <a:pt x="700635" y="52225"/>
                </a:lnTo>
                <a:lnTo>
                  <a:pt x="625679" y="80504"/>
                </a:lnTo>
                <a:lnTo>
                  <a:pt x="553649" y="114344"/>
                </a:lnTo>
                <a:lnTo>
                  <a:pt x="484808" y="153482"/>
                </a:lnTo>
                <a:lnTo>
                  <a:pt x="419418" y="197654"/>
                </a:lnTo>
                <a:lnTo>
                  <a:pt x="357745" y="246597"/>
                </a:lnTo>
                <a:lnTo>
                  <a:pt x="300051" y="300047"/>
                </a:lnTo>
                <a:lnTo>
                  <a:pt x="246601" y="357740"/>
                </a:lnTo>
                <a:lnTo>
                  <a:pt x="197657" y="419413"/>
                </a:lnTo>
                <a:lnTo>
                  <a:pt x="153485" y="484802"/>
                </a:lnTo>
                <a:lnTo>
                  <a:pt x="114346" y="553644"/>
                </a:lnTo>
                <a:lnTo>
                  <a:pt x="80505" y="625674"/>
                </a:lnTo>
                <a:lnTo>
                  <a:pt x="52226" y="700630"/>
                </a:lnTo>
                <a:lnTo>
                  <a:pt x="29773" y="778247"/>
                </a:lnTo>
                <a:lnTo>
                  <a:pt x="13408" y="858262"/>
                </a:lnTo>
                <a:lnTo>
                  <a:pt x="3396" y="940412"/>
                </a:lnTo>
                <a:lnTo>
                  <a:pt x="0" y="1024432"/>
                </a:lnTo>
                <a:lnTo>
                  <a:pt x="3396" y="1108453"/>
                </a:lnTo>
                <a:lnTo>
                  <a:pt x="13408" y="1190602"/>
                </a:lnTo>
                <a:lnTo>
                  <a:pt x="29773" y="1270617"/>
                </a:lnTo>
                <a:lnTo>
                  <a:pt x="52226" y="1348235"/>
                </a:lnTo>
                <a:lnTo>
                  <a:pt x="80505" y="1423190"/>
                </a:lnTo>
                <a:lnTo>
                  <a:pt x="114346" y="1495221"/>
                </a:lnTo>
                <a:lnTo>
                  <a:pt x="153485" y="1564063"/>
                </a:lnTo>
                <a:lnTo>
                  <a:pt x="197657" y="1629452"/>
                </a:lnTo>
                <a:lnTo>
                  <a:pt x="246601" y="1691125"/>
                </a:lnTo>
                <a:lnTo>
                  <a:pt x="300051" y="1748818"/>
                </a:lnTo>
                <a:lnTo>
                  <a:pt x="357745" y="1802268"/>
                </a:lnTo>
                <a:lnTo>
                  <a:pt x="419418" y="1851211"/>
                </a:lnTo>
                <a:lnTo>
                  <a:pt x="484808" y="1895383"/>
                </a:lnTo>
                <a:lnTo>
                  <a:pt x="553649" y="1934521"/>
                </a:lnTo>
                <a:lnTo>
                  <a:pt x="625679" y="1968361"/>
                </a:lnTo>
                <a:lnTo>
                  <a:pt x="700635" y="1996639"/>
                </a:lnTo>
                <a:lnTo>
                  <a:pt x="778251" y="2019093"/>
                </a:lnTo>
                <a:lnTo>
                  <a:pt x="858266" y="2035457"/>
                </a:lnTo>
                <a:lnTo>
                  <a:pt x="940414" y="2045469"/>
                </a:lnTo>
                <a:lnTo>
                  <a:pt x="1024432" y="2048865"/>
                </a:lnTo>
                <a:lnTo>
                  <a:pt x="1108453" y="2045469"/>
                </a:lnTo>
                <a:lnTo>
                  <a:pt x="1190602" y="2035457"/>
                </a:lnTo>
                <a:lnTo>
                  <a:pt x="1270617" y="2019093"/>
                </a:lnTo>
                <a:lnTo>
                  <a:pt x="1348235" y="1996639"/>
                </a:lnTo>
                <a:lnTo>
                  <a:pt x="1423190" y="1968361"/>
                </a:lnTo>
                <a:lnTo>
                  <a:pt x="1495221" y="1934521"/>
                </a:lnTo>
                <a:lnTo>
                  <a:pt x="1564063" y="1895383"/>
                </a:lnTo>
                <a:lnTo>
                  <a:pt x="1629452" y="1851211"/>
                </a:lnTo>
                <a:lnTo>
                  <a:pt x="1691125" y="1802268"/>
                </a:lnTo>
                <a:lnTo>
                  <a:pt x="1748818" y="1748818"/>
                </a:lnTo>
                <a:lnTo>
                  <a:pt x="1802268" y="1691125"/>
                </a:lnTo>
                <a:lnTo>
                  <a:pt x="1851211" y="1629452"/>
                </a:lnTo>
                <a:lnTo>
                  <a:pt x="1895383" y="1564063"/>
                </a:lnTo>
                <a:lnTo>
                  <a:pt x="1934521" y="1495221"/>
                </a:lnTo>
                <a:lnTo>
                  <a:pt x="1968361" y="1423190"/>
                </a:lnTo>
                <a:lnTo>
                  <a:pt x="1996639" y="1348235"/>
                </a:lnTo>
                <a:lnTo>
                  <a:pt x="2019093" y="1270617"/>
                </a:lnTo>
                <a:lnTo>
                  <a:pt x="2035457" y="1190602"/>
                </a:lnTo>
                <a:lnTo>
                  <a:pt x="2045469" y="1108453"/>
                </a:lnTo>
                <a:lnTo>
                  <a:pt x="2048865" y="1024432"/>
                </a:lnTo>
                <a:lnTo>
                  <a:pt x="2045469" y="940412"/>
                </a:lnTo>
                <a:lnTo>
                  <a:pt x="2035457" y="858262"/>
                </a:lnTo>
                <a:lnTo>
                  <a:pt x="2019093" y="778247"/>
                </a:lnTo>
                <a:lnTo>
                  <a:pt x="1996639" y="700630"/>
                </a:lnTo>
                <a:lnTo>
                  <a:pt x="1968361" y="625674"/>
                </a:lnTo>
                <a:lnTo>
                  <a:pt x="1934521" y="553644"/>
                </a:lnTo>
                <a:lnTo>
                  <a:pt x="1895383" y="484802"/>
                </a:lnTo>
                <a:lnTo>
                  <a:pt x="1851211" y="419413"/>
                </a:lnTo>
                <a:lnTo>
                  <a:pt x="1802268" y="357740"/>
                </a:lnTo>
                <a:lnTo>
                  <a:pt x="1748818" y="300047"/>
                </a:lnTo>
                <a:lnTo>
                  <a:pt x="1691125" y="246597"/>
                </a:lnTo>
                <a:lnTo>
                  <a:pt x="1629452" y="197654"/>
                </a:lnTo>
                <a:lnTo>
                  <a:pt x="1564063" y="153482"/>
                </a:lnTo>
                <a:lnTo>
                  <a:pt x="1495221" y="114344"/>
                </a:lnTo>
                <a:lnTo>
                  <a:pt x="1423190" y="80504"/>
                </a:lnTo>
                <a:lnTo>
                  <a:pt x="1348235" y="52225"/>
                </a:lnTo>
                <a:lnTo>
                  <a:pt x="1270617" y="29772"/>
                </a:lnTo>
                <a:lnTo>
                  <a:pt x="1190602" y="13407"/>
                </a:lnTo>
                <a:lnTo>
                  <a:pt x="1108453" y="3395"/>
                </a:lnTo>
                <a:lnTo>
                  <a:pt x="10244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sz="1404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B21D629-C43C-4D84-9C1B-3D969EC17A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172" t="52913" r="38079" b="30629"/>
          <a:stretch/>
        </p:blipFill>
        <p:spPr>
          <a:xfrm>
            <a:off x="6038986" y="3139196"/>
            <a:ext cx="1234977" cy="973953"/>
          </a:xfrm>
          <a:prstGeom prst="rect">
            <a:avLst/>
          </a:prstGeom>
        </p:spPr>
      </p:pic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95600" y="646043"/>
            <a:ext cx="4834626" cy="1863405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</a:defRPr>
            </a:lvl1pPr>
            <a:lvl2pPr>
              <a:defRPr sz="3400" b="1">
                <a:solidFill>
                  <a:schemeClr val="bg1"/>
                </a:solidFill>
              </a:defRPr>
            </a:lvl2pPr>
            <a:lvl3pPr>
              <a:defRPr sz="3400" b="1">
                <a:solidFill>
                  <a:schemeClr val="bg1"/>
                </a:solidFill>
              </a:defRPr>
            </a:lvl3pPr>
            <a:lvl4pPr>
              <a:defRPr sz="3400" b="1">
                <a:solidFill>
                  <a:schemeClr val="bg1"/>
                </a:solidFill>
              </a:defRPr>
            </a:lvl4pPr>
            <a:lvl5pPr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Zitat durch Klicken hinzufügen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695603" y="2721601"/>
            <a:ext cx="3805721" cy="41759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086A93-C998-4DD4-907D-8C07509ABF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22A565F-39ED-4357-84FF-EA09854AF2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5BB86C6-1C9A-466D-9CE1-51ACECEC4A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37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22D3E87-4D5E-42EE-BFAA-DEFADCE5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900F60D-1768-48E3-A1B5-14BBCB67F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3960000" cy="3708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200" y="1008000"/>
            <a:ext cx="3960000" cy="3708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6C1CE2-380C-47E9-8B35-F134CD44F6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59A20B-DB44-4B88-8F73-16D397003E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2D1C785-1D2F-41C8-A2D0-E08EFC8175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2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E59DF-9C98-443E-93E0-C25D5A93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2FF756D6-45BE-4CA9-8D73-7DC21CF7EB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" y="1296000"/>
            <a:ext cx="3960000" cy="3420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4"/>
          </p:nvPr>
        </p:nvSpPr>
        <p:spPr>
          <a:xfrm>
            <a:off x="47522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5"/>
          </p:nvPr>
        </p:nvSpPr>
        <p:spPr>
          <a:xfrm>
            <a:off x="4752200" y="1296000"/>
            <a:ext cx="3960000" cy="3420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0AF344-C881-4077-8537-07C2F8DC9A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369630-FBC8-4C3D-BCE7-36D2FE5C73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CFDF553-C627-44C0-80CA-525DD4D48F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60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er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3E3249F-FD38-4D4D-9020-0251E0AF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5501507C-4075-4224-82B8-ACF0E9868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4176000" cy="3708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007999"/>
            <a:ext cx="3816512" cy="179034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/>
          </p:nvPr>
        </p:nvSpPr>
        <p:spPr>
          <a:xfrm>
            <a:off x="4895688" y="2863788"/>
            <a:ext cx="3816512" cy="1846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25B685E-EB8C-4F4E-80A6-C9FD90B4C7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0794A1E-3BA0-4D9C-A222-8EBDB4DA20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3483C74-DCE9-454D-9C95-024DD98FAE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41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Hoch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01769-7A5F-4726-A7DE-F0F6415E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6BEED840-629E-4E70-924A-3F5FA272B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4176860" cy="37080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008000"/>
            <a:ext cx="3816512" cy="370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B32AC5-E9DE-4649-B1AC-9A62A340C73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5FC210-A7D0-48A0-965B-FED973105A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CA4BF4-EDC6-4CFF-AE4B-CB671709F9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393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3CA99B5-A2F2-4F10-9CFB-140C563A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23A02F9-9EFB-40DA-A6A9-B4AB8316E8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19"/>
          </p:nvPr>
        </p:nvSpPr>
        <p:spPr>
          <a:xfrm>
            <a:off x="0" y="951548"/>
            <a:ext cx="3240000" cy="2073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6"/>
          </p:nvPr>
        </p:nvSpPr>
        <p:spPr>
          <a:xfrm>
            <a:off x="3240003" y="951548"/>
            <a:ext cx="3239999" cy="2073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20"/>
          </p:nvPr>
        </p:nvSpPr>
        <p:spPr>
          <a:xfrm>
            <a:off x="0" y="3038621"/>
            <a:ext cx="3240000" cy="21048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7"/>
          </p:nvPr>
        </p:nvSpPr>
        <p:spPr>
          <a:xfrm>
            <a:off x="3240000" y="3038621"/>
            <a:ext cx="3240000" cy="21048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8"/>
          </p:nvPr>
        </p:nvSpPr>
        <p:spPr>
          <a:xfrm>
            <a:off x="6480000" y="951549"/>
            <a:ext cx="2664000" cy="419195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323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rund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A8DCC85-4928-492C-BEE7-FC5B55B3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482226" y="957295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1818000" y="957295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1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482226" y="2284074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18"/>
          </p:nvPr>
        </p:nvSpPr>
        <p:spPr>
          <a:xfrm>
            <a:off x="1818000" y="2284074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3" name="Bildplatzhalter 7"/>
          <p:cNvSpPr>
            <a:spLocks noGrp="1" noChangeAspect="1"/>
          </p:cNvSpPr>
          <p:nvPr>
            <p:ph type="pic" sz="quarter" idx="19"/>
          </p:nvPr>
        </p:nvSpPr>
        <p:spPr>
          <a:xfrm>
            <a:off x="482226" y="361085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0"/>
          </p:nvPr>
        </p:nvSpPr>
        <p:spPr>
          <a:xfrm>
            <a:off x="1818000" y="3610853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E3799E2-3C23-4EE3-8932-7D8BEC42B9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AAF8D85-2BDA-4B6B-9739-948CC7B45B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9B14986-AEF7-4911-8AC9-241E2F8532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42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eckig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792EEEF-D15B-42F6-B267-A355CF4E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476250" y="958620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2144110" y="95862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21"/>
          </p:nvPr>
        </p:nvSpPr>
        <p:spPr>
          <a:xfrm>
            <a:off x="476250" y="2294605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22"/>
          </p:nvPr>
        </p:nvSpPr>
        <p:spPr>
          <a:xfrm>
            <a:off x="2144110" y="2294605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23"/>
          </p:nvPr>
        </p:nvSpPr>
        <p:spPr>
          <a:xfrm>
            <a:off x="476250" y="3630591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24"/>
          </p:nvPr>
        </p:nvSpPr>
        <p:spPr>
          <a:xfrm>
            <a:off x="2144110" y="363059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4AC54E-2FE8-44FD-8448-789AC527CD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D788027-74D9-4A2C-99EF-860F4806E5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E67A0A4-F964-4E95-B836-83B9DA51486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55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369BABE-C34D-4B71-ABE7-625BE220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4F73F404-72E1-4BC9-B71C-D15CC67905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5247" y="2104084"/>
            <a:ext cx="2814039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8" name="Bildplatzhalter 7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226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1" name="Rechteck 20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6479" y="2084206"/>
            <a:ext cx="2814039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2" name="Bildplatzhalter 7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583498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34251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134251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891870-DFB4-45E6-9383-4A10E76B3D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B04DB42-8004-4EC2-BA6C-C35BBD8F5F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C375FE-0D6A-422E-9BA2-D4859CDA89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625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8B00749-49F7-4FC9-AE55-9A89B467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234A045F-25D1-4F69-800A-3EC98AD24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5246" y="2084206"/>
            <a:ext cx="2520000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0CCFCC13-9E94-4A8E-927E-B90EB96934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1524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3" name="Rechteck 12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35345" y="2084206"/>
            <a:ext cx="2520000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2" name="Bildplatzhalter 7">
            <a:extLst>
              <a:ext uri="{FF2B5EF4-FFF2-40B4-BE49-F238E27FC236}">
                <a16:creationId xmlns:a16="http://schemas.microsoft.com/office/drawing/2014/main" id="{34D29721-8BC0-4D90-A4F3-75A72451E9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75345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3576609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3576609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7" name="Rechteck 16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5444" y="2084205"/>
            <a:ext cx="2520000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01CD30C1-0EF4-4BAD-97BF-FFFDBEF2C1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735444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6433218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6433218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737E52-6A3C-46DC-946E-C8C9351FA4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045F5D0-F689-442E-B9D8-1F4BAD70A0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A0B96AE-C8F3-44FA-AE7D-D6C0869914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09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00D522C-4936-4859-8D4D-0C55FD55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51AA1992-9A0E-4E06-BCFA-97D889E62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6728" y="2084206"/>
            <a:ext cx="2031501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8148DC21-4CB2-4171-8B0E-7865619CB5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32678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669981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669981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4" name="Rechteck 23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56630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7" name="Bildplatzhalter 7">
            <a:extLst>
              <a:ext uri="{FF2B5EF4-FFF2-40B4-BE49-F238E27FC236}">
                <a16:creationId xmlns:a16="http://schemas.microsoft.com/office/drawing/2014/main" id="{515DA547-D380-4DDE-8F77-C8902B7022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2914830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752133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7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52133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8" name="Rechteck 27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031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8" name="Bildplatzhalter 7">
            <a:extLst>
              <a:ext uri="{FF2B5EF4-FFF2-40B4-BE49-F238E27FC236}">
                <a16:creationId xmlns:a16="http://schemas.microsoft.com/office/drawing/2014/main" id="{27A38D11-8E8E-44F4-9460-58E87F53EF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989231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30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826534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826534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32" name="Rechteck 31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5432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9" name="Bildplatzhalter 7">
            <a:extLst>
              <a:ext uri="{FF2B5EF4-FFF2-40B4-BE49-F238E27FC236}">
                <a16:creationId xmlns:a16="http://schemas.microsoft.com/office/drawing/2014/main" id="{F9D0B43C-E1CE-4C97-B82A-2D4CC82B3CB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063632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34" name="Textplatzhalt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6900935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5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900935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9D2061A-F7B9-4066-8B32-A1C3482EF4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3FA1FEC-5452-4CA7-AC29-AAC289A6BF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FF134CF-6C49-4AA3-AF75-2A80F4C02F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720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A6FC187-6C25-4F69-9AFE-1DD17195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6B0B00BC-A6AE-499E-84DC-2DAD144AC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5C91D90-14FB-4048-90C7-46ECAAC1A8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EB3F55-4D9D-4868-AB1E-72DEFF7322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F23070B-2BFB-4265-B171-72C9AFED1F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512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B4CBF2-CB08-4260-9880-58E2CB8136E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6F32DB-70F8-46A0-9893-754D621F6E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68AB4C-9B2E-45E8-ADE4-94712E4C94C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2492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6A65769C-F1B2-46A8-BE29-7BDA292637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8" y="268958"/>
            <a:ext cx="2136071" cy="43199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336D8DB-9367-4FF1-A5AE-E9BB1F8D03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0588" y="580838"/>
            <a:ext cx="1628471" cy="168351"/>
          </a:xfrm>
          <a:prstGeom prst="rect">
            <a:avLst/>
          </a:prstGeom>
        </p:spPr>
      </p:pic>
      <p:sp>
        <p:nvSpPr>
          <p:cNvPr id="16" name="Textfeld 15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 err="1">
                <a:solidFill>
                  <a:schemeClr val="tx1"/>
                </a:solidFill>
              </a:rPr>
              <a:t>Thank</a:t>
            </a:r>
            <a:r>
              <a:rPr lang="de-DE" sz="2000" b="1" dirty="0">
                <a:solidFill>
                  <a:schemeClr val="tx1"/>
                </a:solidFill>
              </a:rPr>
              <a:t> </a:t>
            </a:r>
            <a:r>
              <a:rPr lang="de-DE" sz="2000" b="1" dirty="0" err="1">
                <a:solidFill>
                  <a:schemeClr val="tx1"/>
                </a:solidFill>
              </a:rPr>
              <a:t>you</a:t>
            </a:r>
            <a:r>
              <a:rPr lang="de-DE" sz="20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6" name="Bildplatzhalter 7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6" name="E-Mail">
            <a:extLst>
              <a:ext uri="{FF2B5EF4-FFF2-40B4-BE49-F238E27FC236}">
                <a16:creationId xmlns:a16="http://schemas.microsoft.com/office/drawing/2014/main" id="{3F6E91DA-4315-4842-8A73-EF9BF09F68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400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 err="1"/>
              <a:t>e-mail</a:t>
            </a:r>
            <a:endParaRPr lang="de-DE" dirty="0"/>
          </a:p>
        </p:txBody>
      </p:sp>
      <p:sp>
        <p:nvSpPr>
          <p:cNvPr id="28" name="Email Adresse">
            <a:extLst>
              <a:ext uri="{FF2B5EF4-FFF2-40B4-BE49-F238E27FC236}">
                <a16:creationId xmlns:a16="http://schemas.microsoft.com/office/drawing/2014/main" id="{2E9486C1-A07E-4972-B438-0354636F62C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6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address</a:t>
            </a:r>
            <a:endParaRPr lang="de-DE" dirty="0"/>
          </a:p>
        </p:txBody>
      </p:sp>
      <p:sp>
        <p:nvSpPr>
          <p:cNvPr id="29" name="Telefonnummer">
            <a:extLst>
              <a:ext uri="{FF2B5EF4-FFF2-40B4-BE49-F238E27FC236}">
                <a16:creationId xmlns:a16="http://schemas.microsoft.com/office/drawing/2014/main" id="{3CBB6CEB-664B-42B5-8E61-99712350A32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74400" y="2803118"/>
            <a:ext cx="1745931" cy="245786"/>
          </a:xfrm>
        </p:spPr>
        <p:txBody>
          <a:bodyPr wrap="none"/>
          <a:lstStyle>
            <a:lvl1pPr marL="0" indent="0">
              <a:buNone/>
              <a:tabLst>
                <a:tab pos="538163" algn="l"/>
              </a:tabLst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 err="1">
                <a:solidFill>
                  <a:schemeClr val="tx1"/>
                </a:solidFill>
              </a:rPr>
              <a:t>phone</a:t>
            </a:r>
            <a:r>
              <a:rPr lang="de-DE" dirty="0">
                <a:solidFill>
                  <a:schemeClr val="tx1"/>
                </a:solidFill>
              </a:rPr>
              <a:t>	+49 (0) 711 685-</a:t>
            </a:r>
          </a:p>
        </p:txBody>
      </p:sp>
      <p:sp>
        <p:nvSpPr>
          <p:cNvPr id="30" name="Durchwahl">
            <a:extLst>
              <a:ext uri="{FF2B5EF4-FFF2-40B4-BE49-F238E27FC236}">
                <a16:creationId xmlns:a16="http://schemas.microsoft.com/office/drawing/2014/main" id="{1D874AC3-A5E6-4160-B089-7D15670623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1486" y="2803118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31" name="www">
            <a:extLst>
              <a:ext uri="{FF2B5EF4-FFF2-40B4-BE49-F238E27FC236}">
                <a16:creationId xmlns:a16="http://schemas.microsoft.com/office/drawing/2014/main" id="{2D50EB94-1B6A-4808-869F-07F41859F9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1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2" name="Webadresse">
            <a:extLst>
              <a:ext uri="{FF2B5EF4-FFF2-40B4-BE49-F238E27FC236}">
                <a16:creationId xmlns:a16="http://schemas.microsoft.com/office/drawing/2014/main" id="{6E6785CE-8C96-4924-8283-EC51081BD2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8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address</a:t>
            </a:r>
            <a:endParaRPr lang="de-DE" dirty="0"/>
          </a:p>
        </p:txBody>
      </p:sp>
      <p:sp>
        <p:nvSpPr>
          <p:cNvPr id="33" name="Universität Stuttgart">
            <a:extLst>
              <a:ext uri="{FF2B5EF4-FFF2-40B4-BE49-F238E27FC236}">
                <a16:creationId xmlns:a16="http://schemas.microsoft.com/office/drawing/2014/main" id="{0C08BB04-B052-4FF7-B62B-8ABD826FA7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400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Stuttgart</a:t>
            </a:r>
          </a:p>
        </p:txBody>
      </p:sp>
      <p:sp>
        <p:nvSpPr>
          <p:cNvPr id="34" name="Abteilung Institut">
            <a:extLst>
              <a:ext uri="{FF2B5EF4-FFF2-40B4-BE49-F238E27FC236}">
                <a16:creationId xmlns:a16="http://schemas.microsoft.com/office/drawing/2014/main" id="{547D4004-B9BD-4097-81E1-6F5F7DA08A0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400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Department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institute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35" name="Adressfeld">
            <a:extLst>
              <a:ext uri="{FF2B5EF4-FFF2-40B4-BE49-F238E27FC236}">
                <a16:creationId xmlns:a16="http://schemas.microsoft.com/office/drawing/2014/main" id="{9484ABC1-A1AA-40CB-8BB1-AB6F21778D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400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Address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98344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bla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>
            <a:extLst>
              <a:ext uri="{FF2B5EF4-FFF2-40B4-BE49-F238E27FC236}">
                <a16:creationId xmlns:a16="http://schemas.microsoft.com/office/drawing/2014/main" id="{FB752999-B480-46AD-86AB-B98CEC62686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A94CF37-DF83-4EB6-B7FC-3A54F0E0CF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4400" y="656409"/>
            <a:ext cx="1628471" cy="168351"/>
          </a:xfrm>
          <a:prstGeom prst="rect">
            <a:avLst/>
          </a:prstGeom>
        </p:spPr>
      </p:pic>
      <p:sp>
        <p:nvSpPr>
          <p:cNvPr id="16" name="Textfeld 15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 err="1">
                <a:solidFill>
                  <a:schemeClr val="bg1"/>
                </a:solidFill>
              </a:rPr>
              <a:t>Thank</a:t>
            </a:r>
            <a:r>
              <a:rPr lang="de-DE" sz="2000" b="1" dirty="0">
                <a:solidFill>
                  <a:schemeClr val="bg1"/>
                </a:solidFill>
              </a:rPr>
              <a:t> </a:t>
            </a:r>
            <a:r>
              <a:rPr lang="de-DE" sz="2000" b="1" dirty="0" err="1">
                <a:solidFill>
                  <a:schemeClr val="bg1"/>
                </a:solidFill>
              </a:rPr>
              <a:t>you</a:t>
            </a:r>
            <a:r>
              <a:rPr lang="de-DE" sz="20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27" name="Bildplatzhalter 7">
            <a:extLst>
              <a:ext uri="{FF2B5EF4-FFF2-40B4-BE49-F238E27FC236}">
                <a16:creationId xmlns:a16="http://schemas.microsoft.com/office/drawing/2014/main" id="{E8FAD59D-97FD-4838-AA91-B266FA5DD3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1" name="E-Mail">
            <a:extLst>
              <a:ext uri="{FF2B5EF4-FFF2-40B4-BE49-F238E27FC236}">
                <a16:creationId xmlns:a16="http://schemas.microsoft.com/office/drawing/2014/main" id="{0EF3AEB7-6218-41A3-AF52-E25C7AF428C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400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 err="1"/>
              <a:t>e-mail</a:t>
            </a:r>
            <a:endParaRPr lang="de-DE" dirty="0"/>
          </a:p>
        </p:txBody>
      </p:sp>
      <p:sp>
        <p:nvSpPr>
          <p:cNvPr id="30" name="Email Adresse">
            <a:extLst>
              <a:ext uri="{FF2B5EF4-FFF2-40B4-BE49-F238E27FC236}">
                <a16:creationId xmlns:a16="http://schemas.microsoft.com/office/drawing/2014/main" id="{118DEBC9-D26E-41CE-8AAB-C22253B8FB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6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address</a:t>
            </a:r>
            <a:endParaRPr lang="de-DE" dirty="0"/>
          </a:p>
        </p:txBody>
      </p:sp>
      <p:sp>
        <p:nvSpPr>
          <p:cNvPr id="38" name="Durchwahl">
            <a:extLst>
              <a:ext uri="{FF2B5EF4-FFF2-40B4-BE49-F238E27FC236}">
                <a16:creationId xmlns:a16="http://schemas.microsoft.com/office/drawing/2014/main" id="{E133C5D0-8225-4F00-87C0-B1A77BDD53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174400" y="2803119"/>
            <a:ext cx="1745931" cy="245786"/>
          </a:xfrm>
        </p:spPr>
        <p:txBody>
          <a:bodyPr/>
          <a:lstStyle>
            <a:lvl1pPr marL="0" indent="0" defTabSz="53975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phone</a:t>
            </a:r>
            <a:r>
              <a:rPr lang="de-DE" dirty="0"/>
              <a:t>	+49 (0) 711 685-</a:t>
            </a:r>
          </a:p>
        </p:txBody>
      </p:sp>
      <p:sp>
        <p:nvSpPr>
          <p:cNvPr id="32" name="Durchwahl">
            <a:extLst>
              <a:ext uri="{FF2B5EF4-FFF2-40B4-BE49-F238E27FC236}">
                <a16:creationId xmlns:a16="http://schemas.microsoft.com/office/drawing/2014/main" id="{76EA4574-E195-402F-BE7A-C5DAB28ED0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1486" y="2803119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33" name="www">
            <a:extLst>
              <a:ext uri="{FF2B5EF4-FFF2-40B4-BE49-F238E27FC236}">
                <a16:creationId xmlns:a16="http://schemas.microsoft.com/office/drawing/2014/main" id="{A2A5A03D-8A1F-46C2-8C7A-3BB7531CDF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1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4" name="Webadresse">
            <a:extLst>
              <a:ext uri="{FF2B5EF4-FFF2-40B4-BE49-F238E27FC236}">
                <a16:creationId xmlns:a16="http://schemas.microsoft.com/office/drawing/2014/main" id="{728AF890-7B6D-440A-957D-471333F7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8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address</a:t>
            </a:r>
            <a:endParaRPr lang="de-DE" dirty="0"/>
          </a:p>
        </p:txBody>
      </p:sp>
      <p:sp>
        <p:nvSpPr>
          <p:cNvPr id="35" name="Universität Stuttgart">
            <a:extLst>
              <a:ext uri="{FF2B5EF4-FFF2-40B4-BE49-F238E27FC236}">
                <a16:creationId xmlns:a16="http://schemas.microsoft.com/office/drawing/2014/main" id="{9B3B404A-B28D-4400-A9AD-FAFEB6FD8D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400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Stuttgart</a:t>
            </a:r>
          </a:p>
        </p:txBody>
      </p:sp>
      <p:sp>
        <p:nvSpPr>
          <p:cNvPr id="36" name="Abteilung Institut">
            <a:extLst>
              <a:ext uri="{FF2B5EF4-FFF2-40B4-BE49-F238E27FC236}">
                <a16:creationId xmlns:a16="http://schemas.microsoft.com/office/drawing/2014/main" id="{635F31DC-6AAF-4C41-8D74-05D4427F48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400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Department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institute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37" name="Adressfeld">
            <a:extLst>
              <a:ext uri="{FF2B5EF4-FFF2-40B4-BE49-F238E27FC236}">
                <a16:creationId xmlns:a16="http://schemas.microsoft.com/office/drawing/2014/main" id="{4C5BC753-6D21-46B4-A737-8F9A5E20BA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400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Address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77380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te_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81775667-CF64-48AD-BB4D-F55AF1DD9B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8" y="268958"/>
            <a:ext cx="2136071" cy="431998"/>
          </a:xfrm>
          <a:prstGeom prst="rect">
            <a:avLst/>
          </a:prstGeom>
        </p:spPr>
      </p:pic>
      <p:sp>
        <p:nvSpPr>
          <p:cNvPr id="26" name="Textplatzhalter 9">
            <a:extLst>
              <a:ext uri="{FF2B5EF4-FFF2-40B4-BE49-F238E27FC236}">
                <a16:creationId xmlns:a16="http://schemas.microsoft.com/office/drawing/2014/main" id="{CCC87B1C-0FE3-4333-ACA0-A95E3356614D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 err="1">
                <a:solidFill>
                  <a:schemeClr val="tx1"/>
                </a:solidFill>
              </a:rPr>
              <a:t>Thank</a:t>
            </a:r>
            <a:r>
              <a:rPr lang="de-DE" sz="2000" b="1" dirty="0">
                <a:solidFill>
                  <a:schemeClr val="tx1"/>
                </a:solidFill>
              </a:rPr>
              <a:t> </a:t>
            </a:r>
            <a:r>
              <a:rPr lang="de-DE" sz="2000" b="1" dirty="0" err="1">
                <a:solidFill>
                  <a:schemeClr val="tx1"/>
                </a:solidFill>
              </a:rPr>
              <a:t>you</a:t>
            </a:r>
            <a:r>
              <a:rPr lang="de-DE" sz="200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6" name="Bildplatzhalter 7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E-Mail">
            <a:extLst>
              <a:ext uri="{FF2B5EF4-FFF2-40B4-BE49-F238E27FC236}">
                <a16:creationId xmlns:a16="http://schemas.microsoft.com/office/drawing/2014/main" id="{9F03756C-F8E1-41A9-9E8F-8F8808524C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400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 err="1"/>
              <a:t>e-mail</a:t>
            </a:r>
            <a:endParaRPr lang="de-DE" dirty="0"/>
          </a:p>
        </p:txBody>
      </p:sp>
      <p:sp>
        <p:nvSpPr>
          <p:cNvPr id="28" name="Email Adresse">
            <a:extLst>
              <a:ext uri="{FF2B5EF4-FFF2-40B4-BE49-F238E27FC236}">
                <a16:creationId xmlns:a16="http://schemas.microsoft.com/office/drawing/2014/main" id="{16E0C391-6D81-4638-AEFC-89677A952E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6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address</a:t>
            </a:r>
            <a:endParaRPr lang="de-DE" dirty="0"/>
          </a:p>
        </p:txBody>
      </p:sp>
      <p:sp>
        <p:nvSpPr>
          <p:cNvPr id="29" name="Telefonnummer">
            <a:extLst>
              <a:ext uri="{FF2B5EF4-FFF2-40B4-BE49-F238E27FC236}">
                <a16:creationId xmlns:a16="http://schemas.microsoft.com/office/drawing/2014/main" id="{962EF95F-DFF9-42AD-846E-88B8E1EACB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74400" y="2803118"/>
            <a:ext cx="1745931" cy="245786"/>
          </a:xfrm>
        </p:spPr>
        <p:txBody>
          <a:bodyPr wrap="none"/>
          <a:lstStyle>
            <a:lvl1pPr marL="0" indent="0" defTabSz="538163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 err="1">
                <a:solidFill>
                  <a:schemeClr val="tx1"/>
                </a:solidFill>
              </a:rPr>
              <a:t>phone</a:t>
            </a:r>
            <a:r>
              <a:rPr lang="de-DE" dirty="0">
                <a:solidFill>
                  <a:schemeClr val="tx1"/>
                </a:solidFill>
              </a:rPr>
              <a:t>	+49 (0) 711 685-</a:t>
            </a:r>
          </a:p>
        </p:txBody>
      </p:sp>
      <p:sp>
        <p:nvSpPr>
          <p:cNvPr id="30" name="Durchwahl">
            <a:extLst>
              <a:ext uri="{FF2B5EF4-FFF2-40B4-BE49-F238E27FC236}">
                <a16:creationId xmlns:a16="http://schemas.microsoft.com/office/drawing/2014/main" id="{51DB8C5B-BB3C-4960-B1FA-19ECA6C9B7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1486" y="2803119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31" name="www">
            <a:extLst>
              <a:ext uri="{FF2B5EF4-FFF2-40B4-BE49-F238E27FC236}">
                <a16:creationId xmlns:a16="http://schemas.microsoft.com/office/drawing/2014/main" id="{49C9DA9F-B659-4D05-AF78-F90AE17CE3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1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2" name="Webadresse">
            <a:extLst>
              <a:ext uri="{FF2B5EF4-FFF2-40B4-BE49-F238E27FC236}">
                <a16:creationId xmlns:a16="http://schemas.microsoft.com/office/drawing/2014/main" id="{0C4D8FC5-457E-4A8D-8556-21F9679D91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8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address</a:t>
            </a:r>
            <a:endParaRPr lang="de-DE" dirty="0"/>
          </a:p>
        </p:txBody>
      </p:sp>
      <p:sp>
        <p:nvSpPr>
          <p:cNvPr id="33" name="Universität Stuttgart">
            <a:extLst>
              <a:ext uri="{FF2B5EF4-FFF2-40B4-BE49-F238E27FC236}">
                <a16:creationId xmlns:a16="http://schemas.microsoft.com/office/drawing/2014/main" id="{83E91CC7-0E6F-4BB9-B42C-DCE91142E97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400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Stuttgart</a:t>
            </a:r>
          </a:p>
        </p:txBody>
      </p:sp>
      <p:sp>
        <p:nvSpPr>
          <p:cNvPr id="34" name="Abteilung Institut">
            <a:extLst>
              <a:ext uri="{FF2B5EF4-FFF2-40B4-BE49-F238E27FC236}">
                <a16:creationId xmlns:a16="http://schemas.microsoft.com/office/drawing/2014/main" id="{1D7FCBA3-310D-4C4F-B627-581B3FB01F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400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Department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institute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35" name="Adressfeld">
            <a:extLst>
              <a:ext uri="{FF2B5EF4-FFF2-40B4-BE49-F238E27FC236}">
                <a16:creationId xmlns:a16="http://schemas.microsoft.com/office/drawing/2014/main" id="{3734D7D9-80A3-43EF-A48F-5C4CFE547D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400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Address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1216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te_Schlussfolie bla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E346FCD1-C77C-481D-AFE7-B381E78524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28" name="Textplatzhalter 9">
            <a:extLst>
              <a:ext uri="{FF2B5EF4-FFF2-40B4-BE49-F238E27FC236}">
                <a16:creationId xmlns:a16="http://schemas.microsoft.com/office/drawing/2014/main" id="{F9396F62-FEBC-4F38-A2F8-B90611FD8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 err="1">
                <a:solidFill>
                  <a:schemeClr val="bg1"/>
                </a:solidFill>
              </a:rPr>
              <a:t>Thank</a:t>
            </a:r>
            <a:r>
              <a:rPr lang="de-DE" sz="2000" b="1" dirty="0">
                <a:solidFill>
                  <a:schemeClr val="bg1"/>
                </a:solidFill>
              </a:rPr>
              <a:t> </a:t>
            </a:r>
            <a:r>
              <a:rPr lang="de-DE" sz="2000" b="1" dirty="0" err="1">
                <a:solidFill>
                  <a:schemeClr val="bg1"/>
                </a:solidFill>
              </a:rPr>
              <a:t>you</a:t>
            </a:r>
            <a:r>
              <a:rPr lang="de-DE" sz="20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27" name="Bildplatzhalter 7">
            <a:extLst>
              <a:ext uri="{FF2B5EF4-FFF2-40B4-BE49-F238E27FC236}">
                <a16:creationId xmlns:a16="http://schemas.microsoft.com/office/drawing/2014/main" id="{E8FAD59D-97FD-4838-AA91-B266FA5DD3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1" name="E-Mail">
            <a:extLst>
              <a:ext uri="{FF2B5EF4-FFF2-40B4-BE49-F238E27FC236}">
                <a16:creationId xmlns:a16="http://schemas.microsoft.com/office/drawing/2014/main" id="{DCA0F4E3-1440-45FD-9AD3-AC60C7275A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400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 err="1"/>
              <a:t>e-mail</a:t>
            </a:r>
            <a:endParaRPr lang="de-DE" dirty="0"/>
          </a:p>
        </p:txBody>
      </p:sp>
      <p:sp>
        <p:nvSpPr>
          <p:cNvPr id="30" name="Email Adresse">
            <a:extLst>
              <a:ext uri="{FF2B5EF4-FFF2-40B4-BE49-F238E27FC236}">
                <a16:creationId xmlns:a16="http://schemas.microsoft.com/office/drawing/2014/main" id="{18AFB8D7-22AC-4F06-9D32-AF7F36CC69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6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address</a:t>
            </a:r>
            <a:endParaRPr lang="de-DE" dirty="0"/>
          </a:p>
        </p:txBody>
      </p:sp>
      <p:sp>
        <p:nvSpPr>
          <p:cNvPr id="37" name="Durchwahl">
            <a:extLst>
              <a:ext uri="{FF2B5EF4-FFF2-40B4-BE49-F238E27FC236}">
                <a16:creationId xmlns:a16="http://schemas.microsoft.com/office/drawing/2014/main" id="{185017B9-74A5-4F34-B4F0-E3B0154A9F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174400" y="2803119"/>
            <a:ext cx="1745931" cy="245786"/>
          </a:xfrm>
        </p:spPr>
        <p:txBody>
          <a:bodyPr/>
          <a:lstStyle>
            <a:lvl1pPr marL="0" indent="0" defTabSz="538163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Phone	+49 (0) 711 685-</a:t>
            </a:r>
          </a:p>
        </p:txBody>
      </p:sp>
      <p:sp>
        <p:nvSpPr>
          <p:cNvPr id="31" name="Durchwahl">
            <a:extLst>
              <a:ext uri="{FF2B5EF4-FFF2-40B4-BE49-F238E27FC236}">
                <a16:creationId xmlns:a16="http://schemas.microsoft.com/office/drawing/2014/main" id="{01FBFF05-552E-459B-91AE-83CAFE128C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1486" y="2803119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32" name="www">
            <a:extLst>
              <a:ext uri="{FF2B5EF4-FFF2-40B4-BE49-F238E27FC236}">
                <a16:creationId xmlns:a16="http://schemas.microsoft.com/office/drawing/2014/main" id="{67CA897D-892F-4CE9-B942-3B8DA0BA24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1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3" name="Webadresse">
            <a:extLst>
              <a:ext uri="{FF2B5EF4-FFF2-40B4-BE49-F238E27FC236}">
                <a16:creationId xmlns:a16="http://schemas.microsoft.com/office/drawing/2014/main" id="{2BEFE346-3B3E-4B37-B098-AEC82CBD8C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8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address</a:t>
            </a:r>
            <a:endParaRPr lang="de-DE" dirty="0"/>
          </a:p>
        </p:txBody>
      </p:sp>
      <p:sp>
        <p:nvSpPr>
          <p:cNvPr id="34" name="Universität Stuttgart">
            <a:extLst>
              <a:ext uri="{FF2B5EF4-FFF2-40B4-BE49-F238E27FC236}">
                <a16:creationId xmlns:a16="http://schemas.microsoft.com/office/drawing/2014/main" id="{1170A3D9-2665-43AC-B8CF-228214AB45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400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Stuttgart</a:t>
            </a:r>
          </a:p>
        </p:txBody>
      </p:sp>
      <p:sp>
        <p:nvSpPr>
          <p:cNvPr id="35" name="Abteilung Institut">
            <a:extLst>
              <a:ext uri="{FF2B5EF4-FFF2-40B4-BE49-F238E27FC236}">
                <a16:creationId xmlns:a16="http://schemas.microsoft.com/office/drawing/2014/main" id="{E7568E75-9942-41F4-B0BF-B47296C812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400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Department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institute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36" name="Adressfeld">
            <a:extLst>
              <a:ext uri="{FF2B5EF4-FFF2-40B4-BE49-F238E27FC236}">
                <a16:creationId xmlns:a16="http://schemas.microsoft.com/office/drawing/2014/main" id="{4CC9AD5A-92CF-494C-BE6A-00BD7C60B5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400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Address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637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6"/>
          <p:cNvSpPr>
            <a:spLocks noGrp="1"/>
          </p:cNvSpPr>
          <p:nvPr>
            <p:ph type="title"/>
          </p:nvPr>
        </p:nvSpPr>
        <p:spPr>
          <a:xfrm>
            <a:off x="466727" y="324000"/>
            <a:ext cx="8245475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6" y="1008000"/>
            <a:ext cx="8243887" cy="370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725" y="4876200"/>
            <a:ext cx="606350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University of Stuttgart</a:t>
            </a:r>
          </a:p>
        </p:txBody>
      </p:sp>
      <p:sp>
        <p:nvSpPr>
          <p:cNvPr id="4" name="Date Placeholder 3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54400" y="4876200"/>
            <a:ext cx="5328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800" smtClean="0"/>
            </a:lvl1pPr>
          </a:lstStyle>
          <a:p>
            <a:r>
              <a:rPr lang="de-DE"/>
              <a:t>08/20/2020</a:t>
            </a:r>
            <a:endParaRPr lang="en-US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9000" y="4876200"/>
            <a:ext cx="2232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1" r:id="rId2"/>
    <p:sldLayoutId id="2147483702" r:id="rId3"/>
    <p:sldLayoutId id="2147483698" r:id="rId4"/>
    <p:sldLayoutId id="2147483688" r:id="rId5"/>
    <p:sldLayoutId id="2147483662" r:id="rId6"/>
    <p:sldLayoutId id="2147483692" r:id="rId7"/>
    <p:sldLayoutId id="2147483663" r:id="rId8"/>
    <p:sldLayoutId id="2147483676" r:id="rId9"/>
    <p:sldLayoutId id="2147483680" r:id="rId10"/>
    <p:sldLayoutId id="2147483664" r:id="rId11"/>
    <p:sldLayoutId id="2147483665" r:id="rId12"/>
    <p:sldLayoutId id="2147483677" r:id="rId13"/>
    <p:sldLayoutId id="2147483678" r:id="rId14"/>
    <p:sldLayoutId id="2147483679" r:id="rId15"/>
    <p:sldLayoutId id="2147483684" r:id="rId16"/>
    <p:sldLayoutId id="2147483685" r:id="rId17"/>
    <p:sldLayoutId id="2147483682" r:id="rId18"/>
    <p:sldLayoutId id="2147483681" r:id="rId19"/>
    <p:sldLayoutId id="2147483683" r:id="rId20"/>
    <p:sldLayoutId id="2147483666" r:id="rId21"/>
    <p:sldLayoutId id="2147483667" r:id="rId22"/>
    <p:sldLayoutId id="2147483689" r:id="rId23"/>
    <p:sldLayoutId id="2147483690" r:id="rId24"/>
    <p:sldLayoutId id="2147483699" r:id="rId25"/>
    <p:sldLayoutId id="2147483700" r:id="rId26"/>
  </p:sldLayoutIdLst>
  <p:hf hdr="0"/>
  <p:txStyles>
    <p:titleStyle>
      <a:lvl1pPr algn="l" defTabSz="685793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8" indent="-171448" algn="l" defTabSz="685793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0" indent="-184148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0" indent="-176212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718" indent="-184148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29" indent="-176212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3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28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24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2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9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orient="horz" pos="2967" userDrawn="1">
          <p15:clr>
            <a:srgbClr val="F26B43"/>
          </p15:clr>
        </p15:guide>
        <p15:guide id="4" pos="54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1/2024.10.03.615261" TargetMode="External"/><Relationship Id="rId2" Type="http://schemas.openxmlformats.org/officeDocument/2006/relationships/hyperlink" Target="https://doi.org/10.1038/sdata.2017.181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oi.org/10.1038/sdata.2017.40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9" r="11019"/>
          <a:stretch>
            <a:fillRect/>
          </a:stretch>
        </p:blipFill>
        <p:spPr>
          <a:xfrm>
            <a:off x="450573" y="1473970"/>
            <a:ext cx="8010939" cy="3396290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04E3A5FD-848E-4A76-A505-F7BC035B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 err="1"/>
              <a:t>Insights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a </a:t>
            </a:r>
            <a:r>
              <a:rPr lang="de-DE" sz="2400" dirty="0" err="1"/>
              <a:t>very</a:t>
            </a:r>
            <a:r>
              <a:rPr lang="de-DE" sz="2400" dirty="0"/>
              <a:t> large </a:t>
            </a:r>
            <a:r>
              <a:rPr lang="de-DE" sz="2400" dirty="0" err="1"/>
              <a:t>EEG+Eyetracking</a:t>
            </a:r>
            <a:r>
              <a:rPr lang="de-DE" sz="2400" dirty="0"/>
              <a:t> </a:t>
            </a:r>
            <a:r>
              <a:rPr lang="de-DE" sz="2400" dirty="0" err="1"/>
              <a:t>dataset</a:t>
            </a:r>
            <a:endParaRPr lang="de-DE" sz="2400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A25910D3-E398-478B-896F-7E4967C599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Masters Thesis Introduction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B4EBED-4C83-4244-9F74-8AA04E7E2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Okan</a:t>
            </a:r>
          </a:p>
          <a:p>
            <a:r>
              <a:rPr lang="de-DE" dirty="0"/>
              <a:t>Mazlum</a:t>
            </a:r>
          </a:p>
        </p:txBody>
      </p:sp>
    </p:spTree>
    <p:extLst>
      <p:ext uri="{BB962C8B-B14F-4D97-AF65-F5344CB8AC3E}">
        <p14:creationId xmlns:p14="http://schemas.microsoft.com/office/powerpoint/2010/main" val="199811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49E2A82D-A2D5-419A-8332-6744E18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Healthy</a:t>
            </a:r>
            <a:r>
              <a:rPr lang="de-DE" dirty="0"/>
              <a:t> Brain Network (HBN) </a:t>
            </a:r>
            <a:r>
              <a:rPr lang="de-DE" dirty="0" err="1"/>
              <a:t>dataset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32B2E8D0-F9A5-4821-97DC-7751F91C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Spans 11 Releases </a:t>
            </a:r>
            <a:r>
              <a:rPr lang="de-DE" dirty="0" err="1"/>
              <a:t>from</a:t>
            </a:r>
            <a:r>
              <a:rPr lang="de-DE" dirty="0"/>
              <a:t> 2017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smtClean="0"/>
              <a:t>2024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 smtClean="0"/>
              <a:t>10.09.2025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University of Stuttgart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0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49E2A82D-A2D5-419A-8332-6744E18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Healthy</a:t>
            </a:r>
            <a:r>
              <a:rPr lang="de-DE" dirty="0"/>
              <a:t> Brain Network (HBN) </a:t>
            </a:r>
            <a:r>
              <a:rPr lang="de-DE" dirty="0" err="1"/>
              <a:t>dataset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32B2E8D0-F9A5-4821-97DC-7751F91C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Spans 11 Releases </a:t>
            </a:r>
            <a:r>
              <a:rPr lang="de-DE" dirty="0" err="1"/>
              <a:t>from</a:t>
            </a:r>
            <a:r>
              <a:rPr lang="de-DE" dirty="0"/>
              <a:t> 2017 </a:t>
            </a:r>
            <a:r>
              <a:rPr lang="de-DE" dirty="0" err="1"/>
              <a:t>to</a:t>
            </a:r>
            <a:r>
              <a:rPr lang="de-DE" dirty="0"/>
              <a:t> 2024</a:t>
            </a:r>
          </a:p>
          <a:p>
            <a:r>
              <a:rPr lang="de-DE" dirty="0"/>
              <a:t>EEG + ET </a:t>
            </a:r>
            <a:r>
              <a:rPr lang="de-DE" dirty="0" err="1"/>
              <a:t>from</a:t>
            </a:r>
            <a:r>
              <a:rPr lang="de-DE" dirty="0"/>
              <a:t> 4000+ </a:t>
            </a:r>
            <a:r>
              <a:rPr lang="de-DE" dirty="0" err="1"/>
              <a:t>subjects</a:t>
            </a:r>
            <a:r>
              <a:rPr lang="de-DE" dirty="0"/>
              <a:t> </a:t>
            </a:r>
            <a:r>
              <a:rPr lang="de-DE" dirty="0" err="1"/>
              <a:t>aged</a:t>
            </a:r>
            <a:r>
              <a:rPr lang="de-DE" dirty="0"/>
              <a:t> </a:t>
            </a:r>
            <a:r>
              <a:rPr lang="de-DE" dirty="0" smtClean="0"/>
              <a:t>5-21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University of Stuttgart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296" y="1751141"/>
            <a:ext cx="4453704" cy="268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4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49E2A82D-A2D5-419A-8332-6744E18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Healthy</a:t>
            </a:r>
            <a:r>
              <a:rPr lang="de-DE" dirty="0"/>
              <a:t> Brain Network (HBN) </a:t>
            </a:r>
            <a:r>
              <a:rPr lang="de-DE" dirty="0" err="1"/>
              <a:t>dataset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32B2E8D0-F9A5-4821-97DC-7751F91C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Spans 11 Releases </a:t>
            </a:r>
            <a:r>
              <a:rPr lang="de-DE" dirty="0" err="1"/>
              <a:t>from</a:t>
            </a:r>
            <a:r>
              <a:rPr lang="de-DE" dirty="0"/>
              <a:t> 2017 </a:t>
            </a:r>
            <a:r>
              <a:rPr lang="de-DE" dirty="0" err="1"/>
              <a:t>to</a:t>
            </a:r>
            <a:r>
              <a:rPr lang="de-DE" dirty="0"/>
              <a:t> 2024</a:t>
            </a:r>
          </a:p>
          <a:p>
            <a:r>
              <a:rPr lang="de-DE" dirty="0"/>
              <a:t>EEG + ET </a:t>
            </a:r>
            <a:r>
              <a:rPr lang="de-DE" dirty="0" err="1"/>
              <a:t>from</a:t>
            </a:r>
            <a:r>
              <a:rPr lang="de-DE" dirty="0"/>
              <a:t> 4000+ </a:t>
            </a:r>
            <a:r>
              <a:rPr lang="de-DE" dirty="0" err="1"/>
              <a:t>subjects</a:t>
            </a:r>
            <a:r>
              <a:rPr lang="de-DE" dirty="0"/>
              <a:t> </a:t>
            </a:r>
            <a:r>
              <a:rPr lang="de-DE" dirty="0" err="1"/>
              <a:t>aged</a:t>
            </a:r>
            <a:r>
              <a:rPr lang="de-DE" dirty="0"/>
              <a:t> 5-21</a:t>
            </a:r>
          </a:p>
          <a:p>
            <a:r>
              <a:rPr lang="de-DE" dirty="0" err="1"/>
              <a:t>Contains</a:t>
            </a:r>
            <a:r>
              <a:rPr lang="de-DE" dirty="0"/>
              <a:t> 6 </a:t>
            </a:r>
            <a:r>
              <a:rPr lang="de-DE" dirty="0" err="1"/>
              <a:t>paradigms</a:t>
            </a:r>
            <a:endParaRPr lang="de-DE" dirty="0"/>
          </a:p>
          <a:p>
            <a:pPr lvl="1"/>
            <a:r>
              <a:rPr lang="de-DE" dirty="0" err="1"/>
              <a:t>Resting</a:t>
            </a:r>
            <a:r>
              <a:rPr lang="de-DE" dirty="0"/>
              <a:t> State</a:t>
            </a:r>
          </a:p>
          <a:p>
            <a:pPr lvl="1"/>
            <a:r>
              <a:rPr lang="de-DE" dirty="0"/>
              <a:t>Surround Suppression</a:t>
            </a:r>
          </a:p>
          <a:p>
            <a:pPr lvl="1"/>
            <a:r>
              <a:rPr lang="de-DE" dirty="0" err="1"/>
              <a:t>Contrast</a:t>
            </a:r>
            <a:r>
              <a:rPr lang="de-DE" dirty="0"/>
              <a:t> Change</a:t>
            </a:r>
          </a:p>
          <a:p>
            <a:pPr lvl="1"/>
            <a:r>
              <a:rPr lang="de-DE" dirty="0" err="1"/>
              <a:t>Sequence</a:t>
            </a:r>
            <a:r>
              <a:rPr lang="de-DE" dirty="0"/>
              <a:t> Learning</a:t>
            </a:r>
          </a:p>
          <a:p>
            <a:pPr lvl="1"/>
            <a:r>
              <a:rPr lang="de-DE" dirty="0"/>
              <a:t>Symbol Search</a:t>
            </a:r>
          </a:p>
          <a:p>
            <a:pPr lvl="1"/>
            <a:r>
              <a:rPr lang="de-DE" dirty="0" err="1"/>
              <a:t>Naturalistic</a:t>
            </a:r>
            <a:r>
              <a:rPr lang="de-DE" dirty="0"/>
              <a:t> </a:t>
            </a:r>
            <a:r>
              <a:rPr lang="de-DE" dirty="0" err="1"/>
              <a:t>Viewing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University of Stuttgart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296" y="1751141"/>
            <a:ext cx="4453704" cy="268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96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49E2A82D-A2D5-419A-8332-6744E18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Free-view </a:t>
            </a:r>
            <a:r>
              <a:rPr lang="de-DE" dirty="0" err="1"/>
              <a:t>Paradigms</a:t>
            </a:r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8945CA-9926-4026-817F-FD6EF7444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8000" y="782026"/>
            <a:ext cx="8244200" cy="277200"/>
          </a:xfrm>
        </p:spPr>
        <p:txBody>
          <a:bodyPr/>
          <a:lstStyle/>
          <a:p>
            <a:r>
              <a:rPr lang="de-DE" dirty="0"/>
              <a:t>Symbol Search                                         </a:t>
            </a:r>
            <a:r>
              <a:rPr lang="de-DE" dirty="0" err="1"/>
              <a:t>Naturalistic</a:t>
            </a:r>
            <a:r>
              <a:rPr lang="de-DE" dirty="0"/>
              <a:t> </a:t>
            </a:r>
            <a:r>
              <a:rPr lang="de-DE" dirty="0" err="1"/>
              <a:t>Viewing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University of Stuttgart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592" y="1314589"/>
            <a:ext cx="4754568" cy="259837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10" y="1265252"/>
            <a:ext cx="4073582" cy="312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0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49E2A82D-A2D5-419A-8332-6744E1833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324000"/>
            <a:ext cx="8245475" cy="252000"/>
          </a:xfrm>
        </p:spPr>
        <p:txBody>
          <a:bodyPr anchor="t">
            <a:normAutofit/>
          </a:bodyPr>
          <a:lstStyle/>
          <a:p>
            <a:r>
              <a:rPr lang="de-DE" dirty="0"/>
              <a:t>Data </a:t>
            </a:r>
            <a:r>
              <a:rPr lang="de-DE" dirty="0" err="1"/>
              <a:t>Preparation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754400" y="4876200"/>
            <a:ext cx="532800" cy="123111"/>
          </a:xfrm>
        </p:spPr>
        <p:txBody>
          <a:bodyPr anchor="t">
            <a:normAutofit/>
          </a:bodyPr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66725" y="4876200"/>
            <a:ext cx="6063501" cy="123111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University of Stuttgart</a:t>
            </a: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489000" y="4876200"/>
            <a:ext cx="223200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9E82CC3C-1DC0-4FDA-9590-6CC506AB67F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676" y="1115667"/>
            <a:ext cx="45053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49E2A82D-A2D5-419A-8332-6744E18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8945CA-9926-4026-817F-FD6EF7444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relationship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EEG + ET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32B2E8D0-F9A5-4821-97DC-7751F91C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Traditionally</a:t>
            </a:r>
            <a:r>
              <a:rPr lang="de-DE" dirty="0"/>
              <a:t>, EEG </a:t>
            </a:r>
            <a:r>
              <a:rPr lang="de-DE" dirty="0" err="1"/>
              <a:t>experiments</a:t>
            </a:r>
            <a:r>
              <a:rPr lang="de-DE" dirty="0"/>
              <a:t> </a:t>
            </a:r>
            <a:r>
              <a:rPr lang="de-DE" dirty="0" err="1"/>
              <a:t>minimize</a:t>
            </a:r>
            <a:r>
              <a:rPr lang="de-DE" dirty="0"/>
              <a:t> </a:t>
            </a:r>
            <a:r>
              <a:rPr lang="de-DE" dirty="0" err="1"/>
              <a:t>eye</a:t>
            </a:r>
            <a:r>
              <a:rPr lang="de-DE" dirty="0"/>
              <a:t> </a:t>
            </a:r>
            <a:r>
              <a:rPr lang="de-DE" dirty="0" err="1"/>
              <a:t>movements</a:t>
            </a:r>
            <a:endParaRPr lang="de-DE" dirty="0"/>
          </a:p>
          <a:p>
            <a:pPr lvl="1"/>
            <a:r>
              <a:rPr lang="de-DE" dirty="0"/>
              <a:t>Interest lies in event-</a:t>
            </a:r>
            <a:r>
              <a:rPr lang="de-DE" dirty="0" err="1"/>
              <a:t>related</a:t>
            </a:r>
            <a:r>
              <a:rPr lang="de-DE" dirty="0"/>
              <a:t> </a:t>
            </a:r>
            <a:r>
              <a:rPr lang="de-DE" dirty="0" err="1"/>
              <a:t>potentials</a:t>
            </a:r>
            <a:r>
              <a:rPr lang="de-DE" dirty="0"/>
              <a:t> (ERPs)</a:t>
            </a:r>
          </a:p>
          <a:p>
            <a:pPr lvl="1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University of Stuttgart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580" y="2647639"/>
            <a:ext cx="2815897" cy="2171861"/>
          </a:xfrm>
          <a:prstGeom prst="rect">
            <a:avLst/>
          </a:prstGeom>
        </p:spPr>
      </p:pic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1F28E32D-B3CC-05AA-50F0-4E4F68A148AB}"/>
              </a:ext>
            </a:extLst>
          </p:cNvPr>
          <p:cNvSpPr txBox="1">
            <a:spLocks/>
          </p:cNvSpPr>
          <p:nvPr/>
        </p:nvSpPr>
        <p:spPr>
          <a:xfrm>
            <a:off x="4498006" y="2365287"/>
            <a:ext cx="4731344" cy="1481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793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0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8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9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8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4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(</a:t>
            </a:r>
            <a:r>
              <a:rPr lang="de-DE" sz="1050" dirty="0" err="1"/>
              <a:t>simulated</a:t>
            </a:r>
            <a:r>
              <a:rPr lang="de-DE" sz="1050" dirty="0"/>
              <a:t> </a:t>
            </a:r>
            <a:r>
              <a:rPr lang="de-DE" sz="1050" dirty="0" err="1"/>
              <a:t>data</a:t>
            </a:r>
            <a:r>
              <a:rPr lang="de-DE" sz="10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43035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49E2A82D-A2D5-419A-8332-6744E18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8945CA-9926-4026-817F-FD6EF7444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relationship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EEG + ET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32B2E8D0-F9A5-4821-97DC-7751F91C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Traditionally</a:t>
            </a:r>
            <a:r>
              <a:rPr lang="de-DE" dirty="0"/>
              <a:t>, EEG </a:t>
            </a:r>
            <a:r>
              <a:rPr lang="de-DE" dirty="0" err="1"/>
              <a:t>experiments</a:t>
            </a:r>
            <a:r>
              <a:rPr lang="de-DE" dirty="0"/>
              <a:t> </a:t>
            </a:r>
            <a:r>
              <a:rPr lang="de-DE" dirty="0" err="1"/>
              <a:t>minimize</a:t>
            </a:r>
            <a:r>
              <a:rPr lang="de-DE" dirty="0"/>
              <a:t> </a:t>
            </a:r>
            <a:r>
              <a:rPr lang="de-DE" dirty="0" err="1"/>
              <a:t>eye</a:t>
            </a:r>
            <a:r>
              <a:rPr lang="de-DE" dirty="0"/>
              <a:t> </a:t>
            </a:r>
            <a:r>
              <a:rPr lang="de-DE" dirty="0" err="1"/>
              <a:t>movements</a:t>
            </a:r>
            <a:endParaRPr lang="de-DE" dirty="0"/>
          </a:p>
          <a:p>
            <a:pPr lvl="1"/>
            <a:r>
              <a:rPr lang="de-DE" dirty="0"/>
              <a:t>Interest lies in event-</a:t>
            </a:r>
            <a:r>
              <a:rPr lang="de-DE" dirty="0" err="1"/>
              <a:t>related</a:t>
            </a:r>
            <a:r>
              <a:rPr lang="de-DE" dirty="0"/>
              <a:t> </a:t>
            </a:r>
            <a:r>
              <a:rPr lang="de-DE" dirty="0" err="1"/>
              <a:t>potentials</a:t>
            </a:r>
            <a:r>
              <a:rPr lang="de-DE" dirty="0"/>
              <a:t> (ERPs)</a:t>
            </a:r>
          </a:p>
          <a:p>
            <a:r>
              <a:rPr lang="de-DE" dirty="0"/>
              <a:t>Eye </a:t>
            </a:r>
            <a:r>
              <a:rPr lang="de-DE" dirty="0" err="1"/>
              <a:t>movements</a:t>
            </a:r>
            <a:r>
              <a:rPr lang="de-DE" dirty="0"/>
              <a:t> do </a:t>
            </a:r>
            <a:r>
              <a:rPr lang="de-DE" dirty="0" err="1"/>
              <a:t>produce</a:t>
            </a:r>
            <a:r>
              <a:rPr lang="de-DE" dirty="0"/>
              <a:t> a </a:t>
            </a:r>
            <a:r>
              <a:rPr lang="de-DE" dirty="0" err="1"/>
              <a:t>meaningful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response</a:t>
            </a:r>
            <a:endParaRPr lang="de-DE" dirty="0"/>
          </a:p>
          <a:p>
            <a:pPr lvl="1"/>
            <a:r>
              <a:rPr lang="de-DE" dirty="0"/>
              <a:t>Fixation-</a:t>
            </a:r>
            <a:r>
              <a:rPr lang="de-DE" dirty="0" err="1"/>
              <a:t>related</a:t>
            </a:r>
            <a:r>
              <a:rPr lang="de-DE" dirty="0"/>
              <a:t> </a:t>
            </a:r>
            <a:r>
              <a:rPr lang="de-DE" dirty="0" err="1"/>
              <a:t>potentials</a:t>
            </a:r>
            <a:r>
              <a:rPr lang="de-DE" dirty="0"/>
              <a:t> (FRPs)</a:t>
            </a:r>
          </a:p>
          <a:p>
            <a:pPr lvl="1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University of Stuttgart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580" y="2647639"/>
            <a:ext cx="2815897" cy="217186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F4A9266-6B36-04C8-3ED4-339C8BB57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73" y="2584146"/>
            <a:ext cx="3024402" cy="2014854"/>
          </a:xfrm>
          <a:prstGeom prst="rect">
            <a:avLst/>
          </a:prstGeom>
        </p:spPr>
      </p:pic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1F28E32D-B3CC-05AA-50F0-4E4F68A148AB}"/>
              </a:ext>
            </a:extLst>
          </p:cNvPr>
          <p:cNvSpPr txBox="1">
            <a:spLocks/>
          </p:cNvSpPr>
          <p:nvPr/>
        </p:nvSpPr>
        <p:spPr>
          <a:xfrm>
            <a:off x="4498006" y="2365287"/>
            <a:ext cx="4731344" cy="1481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793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0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8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9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8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4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(</a:t>
            </a:r>
            <a:r>
              <a:rPr lang="de-DE" sz="1050" dirty="0" err="1"/>
              <a:t>simulated</a:t>
            </a:r>
            <a:r>
              <a:rPr lang="de-DE" sz="1050" dirty="0"/>
              <a:t> </a:t>
            </a:r>
            <a:r>
              <a:rPr lang="de-DE" sz="1050" dirty="0" err="1"/>
              <a:t>data</a:t>
            </a:r>
            <a:r>
              <a:rPr lang="de-DE" sz="10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56328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E1DBE-44D1-AFAA-4FD5-3FC46FD2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creating</a:t>
            </a:r>
            <a:r>
              <a:rPr lang="de-DE" dirty="0"/>
              <a:t> FRPs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82A616-BD3F-BAC4-03C2-7ACEFAF6E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650271"/>
            <a:ext cx="8243887" cy="3640163"/>
          </a:xfrm>
        </p:spPr>
        <p:txBody>
          <a:bodyPr/>
          <a:lstStyle/>
          <a:p>
            <a:pPr marL="176212" lvl="1" indent="0">
              <a:buNone/>
            </a:pPr>
            <a:endParaRPr lang="en-US" dirty="0"/>
          </a:p>
          <a:p>
            <a:r>
              <a:rPr lang="de-DE" dirty="0" err="1"/>
              <a:t>Synchronization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EEG + Eye-Tracking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6F8126-0784-3DC8-1A47-DE5109E0B2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528E2D-98BF-A772-67A9-CFE35EAF4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E54E2C-EF7B-B10D-383A-5066991520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836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E1DBE-44D1-AFAA-4FD5-3FC46FD2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creating</a:t>
            </a:r>
            <a:r>
              <a:rPr lang="de-DE" dirty="0"/>
              <a:t> FRPs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82A616-BD3F-BAC4-03C2-7ACEFAF6E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650271"/>
            <a:ext cx="8243887" cy="3640163"/>
          </a:xfrm>
        </p:spPr>
        <p:txBody>
          <a:bodyPr/>
          <a:lstStyle/>
          <a:p>
            <a:pPr marL="176212" lvl="1" indent="0">
              <a:buNone/>
            </a:pPr>
            <a:endParaRPr lang="en-US" dirty="0"/>
          </a:p>
          <a:p>
            <a:r>
              <a:rPr lang="de-DE" dirty="0" err="1"/>
              <a:t>Synchronization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EEG + Eye-Tracking</a:t>
            </a:r>
          </a:p>
          <a:p>
            <a:r>
              <a:rPr lang="de-DE" dirty="0" err="1"/>
              <a:t>Ocular</a:t>
            </a:r>
            <a:r>
              <a:rPr lang="de-DE" dirty="0"/>
              <a:t> </a:t>
            </a:r>
            <a:r>
              <a:rPr lang="de-DE" dirty="0" err="1"/>
              <a:t>artifacts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6F8126-0784-3DC8-1A47-DE5109E0B2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528E2D-98BF-A772-67A9-CFE35EAF4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E54E2C-EF7B-B10D-383A-5066991520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67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E1DBE-44D1-AFAA-4FD5-3FC46FD2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creating</a:t>
            </a:r>
            <a:r>
              <a:rPr lang="de-DE" dirty="0"/>
              <a:t> FRPs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82A616-BD3F-BAC4-03C2-7ACEFAF6E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650271"/>
            <a:ext cx="8243887" cy="3640163"/>
          </a:xfrm>
        </p:spPr>
        <p:txBody>
          <a:bodyPr/>
          <a:lstStyle/>
          <a:p>
            <a:pPr marL="176212" lvl="1" indent="0">
              <a:buNone/>
            </a:pPr>
            <a:endParaRPr lang="en-US" dirty="0"/>
          </a:p>
          <a:p>
            <a:r>
              <a:rPr lang="de-DE" dirty="0" err="1"/>
              <a:t>Synchronization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EEG + Eye-Tracking</a:t>
            </a:r>
          </a:p>
          <a:p>
            <a:r>
              <a:rPr lang="de-DE" dirty="0" err="1"/>
              <a:t>Ocular</a:t>
            </a:r>
            <a:r>
              <a:rPr lang="de-DE" dirty="0"/>
              <a:t> </a:t>
            </a:r>
            <a:r>
              <a:rPr lang="de-DE" dirty="0" err="1"/>
              <a:t>artifacts</a:t>
            </a:r>
            <a:endParaRPr lang="de-DE" dirty="0"/>
          </a:p>
          <a:p>
            <a:r>
              <a:rPr lang="de-DE" dirty="0"/>
              <a:t>Temporal </a:t>
            </a:r>
            <a:r>
              <a:rPr lang="de-DE" dirty="0" err="1"/>
              <a:t>overlap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6F8126-0784-3DC8-1A47-DE5109E0B2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528E2D-98BF-A772-67A9-CFE35EAF4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E54E2C-EF7B-B10D-383A-5066991520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7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E1DBE-44D1-AFAA-4FD5-3FC46FD2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creating</a:t>
            </a:r>
            <a:r>
              <a:rPr lang="de-DE" dirty="0"/>
              <a:t> FRPs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82A616-BD3F-BAC4-03C2-7ACEFAF6E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650271"/>
            <a:ext cx="8243887" cy="3640163"/>
          </a:xfrm>
        </p:spPr>
        <p:txBody>
          <a:bodyPr/>
          <a:lstStyle/>
          <a:p>
            <a:pPr marL="176212" lvl="1" indent="0">
              <a:buNone/>
            </a:pPr>
            <a:endParaRPr lang="en-US" dirty="0"/>
          </a:p>
          <a:p>
            <a:r>
              <a:rPr lang="de-DE" dirty="0" err="1"/>
              <a:t>Synchronization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EEG + Eye-Tracking</a:t>
            </a:r>
          </a:p>
          <a:p>
            <a:r>
              <a:rPr lang="de-DE" dirty="0" err="1"/>
              <a:t>Ocular</a:t>
            </a:r>
            <a:r>
              <a:rPr lang="de-DE" dirty="0"/>
              <a:t> </a:t>
            </a:r>
            <a:r>
              <a:rPr lang="de-DE" dirty="0" err="1"/>
              <a:t>artifacts</a:t>
            </a:r>
            <a:endParaRPr lang="de-DE" dirty="0"/>
          </a:p>
          <a:p>
            <a:r>
              <a:rPr lang="de-DE" dirty="0"/>
              <a:t>Temporal </a:t>
            </a:r>
            <a:r>
              <a:rPr lang="de-DE" dirty="0" err="1"/>
              <a:t>overlap</a:t>
            </a:r>
            <a:endParaRPr lang="de-DE" dirty="0"/>
          </a:p>
          <a:p>
            <a:r>
              <a:rPr lang="de-DE" dirty="0" err="1"/>
              <a:t>Confounding</a:t>
            </a:r>
            <a:r>
              <a:rPr lang="de-DE" dirty="0"/>
              <a:t> Low-Level </a:t>
            </a:r>
            <a:r>
              <a:rPr lang="de-DE" dirty="0" err="1"/>
              <a:t>Covariates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6F8126-0784-3DC8-1A47-DE5109E0B2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528E2D-98BF-A772-67A9-CFE35EAF4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E54E2C-EF7B-B10D-383A-5066991520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BCA08D7-E7A6-2938-1DCD-F89388588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93" y="2885094"/>
            <a:ext cx="7581207" cy="160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1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6727" y="324000"/>
            <a:ext cx="8245475" cy="252000"/>
          </a:xfrm>
        </p:spPr>
        <p:txBody>
          <a:bodyPr anchor="t">
            <a:normAutofit/>
          </a:bodyPr>
          <a:lstStyle/>
          <a:p>
            <a:r>
              <a:rPr lang="en-US" dirty="0"/>
              <a:t>Data processing and analysis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DD7F4D-0E70-25D2-EDFA-93E6B6125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8000" y="576000"/>
            <a:ext cx="8244200" cy="2772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Grafik 3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2CE762E9-36C5-6A0D-F030-E409A4A86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6" y="1634914"/>
            <a:ext cx="8243887" cy="2452555"/>
          </a:xfrm>
          <a:prstGeom prst="rect">
            <a:avLst/>
          </a:prstGeom>
          <a:noFill/>
        </p:spPr>
      </p:pic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>
          <a:xfrm>
            <a:off x="7754400" y="4876200"/>
            <a:ext cx="532800" cy="123111"/>
          </a:xfrm>
        </p:spPr>
        <p:txBody>
          <a:bodyPr anchor="t">
            <a:normAutofit/>
          </a:bodyPr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5"/>
          </p:nvPr>
        </p:nvSpPr>
        <p:spPr>
          <a:xfrm>
            <a:off x="466725" y="4876200"/>
            <a:ext cx="6063501" cy="123111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University of Stuttgart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6"/>
          </p:nvPr>
        </p:nvSpPr>
        <p:spPr>
          <a:xfrm>
            <a:off x="8489000" y="4876200"/>
            <a:ext cx="223200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9E82CC3C-1DC0-4FDA-9590-6CC506AB67F8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70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Symbol Search formula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University of Stuttgart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7" y="1869810"/>
            <a:ext cx="2740301" cy="2310137"/>
          </a:xfrm>
          <a:prstGeom prst="rect">
            <a:avLst/>
          </a:prstGeom>
        </p:spPr>
      </p:pic>
      <p:sp>
        <p:nvSpPr>
          <p:cNvPr id="9" name="Inhaltsplatzhalter 3"/>
          <p:cNvSpPr>
            <a:spLocks noGrp="1"/>
          </p:cNvSpPr>
          <p:nvPr>
            <p:ph idx="1"/>
          </p:nvPr>
        </p:nvSpPr>
        <p:spPr>
          <a:xfrm>
            <a:off x="3425684" y="1897063"/>
            <a:ext cx="5286516" cy="3702644"/>
          </a:xfrm>
        </p:spPr>
        <p:txBody>
          <a:bodyPr/>
          <a:lstStyle/>
          <a:p>
            <a:r>
              <a:rPr lang="en-US" dirty="0"/>
              <a:t>Intercept term</a:t>
            </a:r>
          </a:p>
          <a:p>
            <a:r>
              <a:rPr lang="en-US" dirty="0"/>
              <a:t>Category addressing fixation length for (non)targets</a:t>
            </a:r>
          </a:p>
          <a:p>
            <a:r>
              <a:rPr lang="en-US" dirty="0"/>
              <a:t>Nonlinear effect of saccade amplitude</a:t>
            </a:r>
          </a:p>
          <a:p>
            <a:r>
              <a:rPr lang="en-US" dirty="0"/>
              <a:t>Nonlinear effect of saccade angle</a:t>
            </a:r>
          </a:p>
          <a:p>
            <a:r>
              <a:rPr lang="en-US" dirty="0"/>
              <a:t>Nonlinear effect of fixation position</a:t>
            </a: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67" y="1267584"/>
            <a:ext cx="801424" cy="274313"/>
          </a:xfrm>
          <a:prstGeom prst="rect">
            <a:avLst/>
          </a:prstGeom>
        </p:spPr>
      </p:pic>
      <p:sp>
        <p:nvSpPr>
          <p:cNvPr id="12" name="Inhaltsplatzhalter 3"/>
          <p:cNvSpPr txBox="1">
            <a:spLocks/>
          </p:cNvSpPr>
          <p:nvPr/>
        </p:nvSpPr>
        <p:spPr>
          <a:xfrm>
            <a:off x="3425684" y="1267584"/>
            <a:ext cx="3498574" cy="6294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48" indent="-171448" algn="l" defTabSz="685793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0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8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9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8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4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Stimulus-onset</a:t>
            </a:r>
          </a:p>
        </p:txBody>
      </p:sp>
    </p:spTree>
    <p:extLst>
      <p:ext uri="{BB962C8B-B14F-4D97-AF65-F5344CB8AC3E}">
        <p14:creationId xmlns:p14="http://schemas.microsoft.com/office/powerpoint/2010/main" val="377243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B62196-9F42-F2A1-CDD8-BC39AEF9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Research Goal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A29195-3B44-530B-AFEB-1131E21174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D65E0F-DD5E-778E-92A4-7C1FCF957D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E6F81E-7F87-5BE4-8569-A7CC851994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0E6B3F8-ED76-847C-0598-D6B921865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35" y="505735"/>
            <a:ext cx="5402052" cy="432013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855E4B5-036B-D635-2EFD-5A1F4B971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37" y="3415521"/>
            <a:ext cx="2370098" cy="957011"/>
          </a:xfrm>
          <a:prstGeom prst="rect">
            <a:avLst/>
          </a:prstGeom>
        </p:spPr>
      </p:pic>
      <p:sp>
        <p:nvSpPr>
          <p:cNvPr id="3" name="Pfeil nach rechts 2"/>
          <p:cNvSpPr/>
          <p:nvPr/>
        </p:nvSpPr>
        <p:spPr>
          <a:xfrm rot="5400000">
            <a:off x="1340595" y="3024935"/>
            <a:ext cx="377686" cy="2527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smtClean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90" y="1179913"/>
            <a:ext cx="2349854" cy="147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29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49E2A82D-A2D5-419A-8332-6744E18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(Image) </a:t>
            </a:r>
            <a:r>
              <a:rPr lang="de-DE" dirty="0" err="1"/>
              <a:t>Sources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32B2E8D0-F9A5-4821-97DC-7751F91C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358" lvl="2" indent="0">
              <a:buNone/>
            </a:pPr>
            <a:endParaRPr lang="de-DE" dirty="0"/>
          </a:p>
          <a:p>
            <a:pPr lvl="1"/>
            <a:endParaRPr lang="de-DE" dirty="0"/>
          </a:p>
          <a:p>
            <a:pPr marL="176212" lvl="1" indent="0">
              <a:buNone/>
            </a:pP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dirty="0"/>
              <a:t>10.09.2025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66725" y="4876200"/>
            <a:ext cx="6063501" cy="123111"/>
          </a:xfrm>
        </p:spPr>
        <p:txBody>
          <a:bodyPr/>
          <a:lstStyle/>
          <a:p>
            <a:r>
              <a:rPr lang="en-US" dirty="0"/>
              <a:t>University of Stuttgart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Inhaltsplatzhalter 16">
            <a:extLst>
              <a:ext uri="{FF2B5EF4-FFF2-40B4-BE49-F238E27FC236}">
                <a16:creationId xmlns:a16="http://schemas.microsoft.com/office/drawing/2014/main" id="{32B2E8D0-F9A5-4821-97DC-7751F91C6088}"/>
              </a:ext>
            </a:extLst>
          </p:cNvPr>
          <p:cNvSpPr txBox="1">
            <a:spLocks/>
          </p:cNvSpPr>
          <p:nvPr/>
        </p:nvSpPr>
        <p:spPr>
          <a:xfrm>
            <a:off x="465447" y="576000"/>
            <a:ext cx="8243887" cy="20695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48" indent="-171448" algn="l" defTabSz="685793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0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8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9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8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4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dirty="0"/>
          </a:p>
          <a:p>
            <a:r>
              <a:rPr lang="en-US" sz="1100" dirty="0" err="1"/>
              <a:t>Dimigen</a:t>
            </a:r>
            <a:r>
              <a:rPr lang="en-US" sz="1100" dirty="0"/>
              <a:t> O, </a:t>
            </a:r>
            <a:r>
              <a:rPr lang="en-US" sz="1100" dirty="0" err="1"/>
              <a:t>Ehinger</a:t>
            </a:r>
            <a:r>
              <a:rPr lang="en-US" sz="1100" dirty="0"/>
              <a:t> BV. Regression-based analysis of combined EEG and eye-tracking data: Theory and applications. J Vis. 2021 Jan 4;21(1):3. </a:t>
            </a:r>
            <a:r>
              <a:rPr lang="en-US" sz="1100" dirty="0" err="1"/>
              <a:t>doi</a:t>
            </a:r>
            <a:r>
              <a:rPr lang="en-US" sz="1100" dirty="0"/>
              <a:t>: 10.1167/jov.21.1.3. PMID: 33410892; PMCID: PMC7804566.</a:t>
            </a:r>
          </a:p>
          <a:p>
            <a:pPr lvl="1"/>
            <a:r>
              <a:rPr lang="en-US" sz="1100" dirty="0"/>
              <a:t>Figures modified</a:t>
            </a:r>
          </a:p>
          <a:p>
            <a:r>
              <a:rPr lang="en-US" sz="1100" dirty="0"/>
              <a:t>Alexander, L., </a:t>
            </a:r>
            <a:r>
              <a:rPr lang="en-US" sz="1100" dirty="0" err="1"/>
              <a:t>Escalera</a:t>
            </a:r>
            <a:r>
              <a:rPr lang="en-US" sz="1100" dirty="0"/>
              <a:t>, J., Ai, L. </a:t>
            </a:r>
            <a:r>
              <a:rPr lang="en-US" sz="1100" i="1" dirty="0"/>
              <a:t>et al.</a:t>
            </a:r>
            <a:r>
              <a:rPr lang="en-US" sz="1100" dirty="0"/>
              <a:t> An open resource for </a:t>
            </a:r>
            <a:r>
              <a:rPr lang="en-US" sz="1100" dirty="0" err="1"/>
              <a:t>transdiagnostic</a:t>
            </a:r>
            <a:r>
              <a:rPr lang="en-US" sz="1100" dirty="0"/>
              <a:t> research in pediatric mental health and learning disorders. </a:t>
            </a:r>
            <a:r>
              <a:rPr lang="en-US" sz="1100" i="1" dirty="0" err="1"/>
              <a:t>Sci</a:t>
            </a:r>
            <a:r>
              <a:rPr lang="en-US" sz="1100" i="1" dirty="0"/>
              <a:t> Data</a:t>
            </a:r>
            <a:r>
              <a:rPr lang="en-US" sz="1100" dirty="0"/>
              <a:t> </a:t>
            </a:r>
            <a:r>
              <a:rPr lang="en-US" sz="1100" b="1" dirty="0"/>
              <a:t>4</a:t>
            </a:r>
            <a:r>
              <a:rPr lang="en-US" sz="1100" dirty="0"/>
              <a:t>, 170181 (2017). </a:t>
            </a:r>
            <a:r>
              <a:rPr lang="en-US" sz="1100" dirty="0">
                <a:hlinkClick r:id="rId2"/>
              </a:rPr>
              <a:t>https://doi.org/10.1038/sdata.2017.181</a:t>
            </a:r>
            <a:endParaRPr lang="en-US" sz="1100" dirty="0"/>
          </a:p>
          <a:p>
            <a:r>
              <a:rPr lang="en-US" sz="1100" dirty="0" err="1"/>
              <a:t>Seyed</a:t>
            </a:r>
            <a:r>
              <a:rPr lang="en-US" sz="1100" dirty="0"/>
              <a:t> </a:t>
            </a:r>
            <a:r>
              <a:rPr lang="en-US" sz="1100" dirty="0" err="1"/>
              <a:t>Yahya</a:t>
            </a:r>
            <a:r>
              <a:rPr lang="en-US" sz="1100" dirty="0"/>
              <a:t> </a:t>
            </a:r>
            <a:r>
              <a:rPr lang="en-US" sz="1100" dirty="0" err="1"/>
              <a:t>Shirazi</a:t>
            </a:r>
            <a:r>
              <a:rPr lang="en-US" sz="1100" dirty="0"/>
              <a:t>, Alexandre Franco, </a:t>
            </a:r>
            <a:r>
              <a:rPr lang="en-US" sz="1100" dirty="0" err="1"/>
              <a:t>Maurício</a:t>
            </a:r>
            <a:r>
              <a:rPr lang="en-US" sz="1100" dirty="0"/>
              <a:t> </a:t>
            </a:r>
            <a:r>
              <a:rPr lang="en-US" sz="1100" dirty="0" err="1"/>
              <a:t>Scopel</a:t>
            </a:r>
            <a:r>
              <a:rPr lang="en-US" sz="1100" dirty="0"/>
              <a:t> Hoffmann, </a:t>
            </a:r>
            <a:r>
              <a:rPr lang="en-US" sz="1100" dirty="0" err="1"/>
              <a:t>Nathalia</a:t>
            </a:r>
            <a:r>
              <a:rPr lang="en-US" sz="1100" dirty="0"/>
              <a:t> B. </a:t>
            </a:r>
            <a:r>
              <a:rPr lang="en-US" sz="1100" dirty="0" err="1"/>
              <a:t>Esper</a:t>
            </a:r>
            <a:r>
              <a:rPr lang="en-US" sz="1100" dirty="0"/>
              <a:t>, Dung Truong, Arnaud Delorme, Michael P. </a:t>
            </a:r>
            <a:r>
              <a:rPr lang="en-US" sz="1100" dirty="0" err="1"/>
              <a:t>Milham</a:t>
            </a:r>
            <a:r>
              <a:rPr lang="en-US" sz="1100" dirty="0"/>
              <a:t>, Scott </a:t>
            </a:r>
            <a:r>
              <a:rPr lang="en-US" sz="1100" dirty="0" err="1"/>
              <a:t>Makeig</a:t>
            </a:r>
            <a:r>
              <a:rPr lang="en-US" sz="1100" dirty="0"/>
              <a:t> </a:t>
            </a:r>
            <a:br>
              <a:rPr lang="en-US" sz="1100" dirty="0"/>
            </a:br>
            <a:r>
              <a:rPr lang="en-US" sz="1100" dirty="0" err="1"/>
              <a:t>bioRxiv</a:t>
            </a:r>
            <a:r>
              <a:rPr lang="en-US" sz="1100" dirty="0"/>
              <a:t> 2024.10.03.615261; </a:t>
            </a:r>
            <a:r>
              <a:rPr lang="en-US" sz="1100" dirty="0" err="1"/>
              <a:t>doi</a:t>
            </a:r>
            <a:r>
              <a:rPr lang="en-US" sz="1100" dirty="0"/>
              <a:t>: </a:t>
            </a:r>
            <a:r>
              <a:rPr lang="en-US" sz="1100" dirty="0">
                <a:hlinkClick r:id="rId3"/>
              </a:rPr>
              <a:t>https://doi.org/10.1101/2024.10.03.615261</a:t>
            </a:r>
            <a:endParaRPr lang="en-US" sz="1100" dirty="0"/>
          </a:p>
          <a:p>
            <a:pPr lvl="1"/>
            <a:r>
              <a:rPr lang="en-US" sz="1100" dirty="0"/>
              <a:t>Figures modified</a:t>
            </a:r>
          </a:p>
          <a:p>
            <a:r>
              <a:rPr lang="en-US" sz="1100" dirty="0"/>
              <a:t>Langer, N., Ho, E., Alexander, L. </a:t>
            </a:r>
            <a:r>
              <a:rPr lang="en-US" sz="1100" i="1" dirty="0"/>
              <a:t>et al.</a:t>
            </a:r>
            <a:r>
              <a:rPr lang="en-US" sz="1100" dirty="0"/>
              <a:t> A resource for assessing information processing in the developing brain using EEG and eye tracking. </a:t>
            </a:r>
            <a:r>
              <a:rPr lang="en-US" sz="1100" i="1" dirty="0" err="1"/>
              <a:t>Sci</a:t>
            </a:r>
            <a:r>
              <a:rPr lang="en-US" sz="1100" i="1" dirty="0"/>
              <a:t> Data</a:t>
            </a:r>
            <a:r>
              <a:rPr lang="en-US" sz="1100" dirty="0"/>
              <a:t> </a:t>
            </a:r>
            <a:r>
              <a:rPr lang="en-US" sz="1100" b="1" dirty="0"/>
              <a:t>4</a:t>
            </a:r>
            <a:r>
              <a:rPr lang="en-US" sz="1100" dirty="0"/>
              <a:t>, 170040 (2017). </a:t>
            </a:r>
            <a:r>
              <a:rPr lang="en-US" sz="1100" dirty="0">
                <a:hlinkClick r:id="rId4"/>
              </a:rPr>
              <a:t>https://doi.org/10.1038/sdata.2017.40</a:t>
            </a:r>
            <a:endParaRPr lang="en-US" sz="1100" dirty="0"/>
          </a:p>
          <a:p>
            <a:r>
              <a:rPr lang="en-US" sz="1100" dirty="0"/>
              <a:t>Kuefner, Dana &amp; de Heering, Adélaïde &amp; Jacques, Corentin &amp; Palmero-Soler, Ernesto &amp; </a:t>
            </a:r>
            <a:r>
              <a:rPr lang="en-US" sz="1100" dirty="0" err="1"/>
              <a:t>Rossion</a:t>
            </a:r>
            <a:r>
              <a:rPr lang="en-US" sz="1100" dirty="0"/>
              <a:t>, Bruno. (2010). Early Visually Evoked Electrophysiological Responses Over the Human Brain (P1, N170) Show Stable Patterns of Face-Sensitivity from 4 years to Adulthood. Frontiers in Human Neuroscience. 3. 67. 10.3389/neuro.09.067.2009. </a:t>
            </a:r>
          </a:p>
          <a:p>
            <a:pPr lvl="1"/>
            <a:r>
              <a:rPr lang="en-US" sz="1100" dirty="0"/>
              <a:t>Figures modified</a:t>
            </a:r>
          </a:p>
          <a:p>
            <a:endParaRPr lang="en-US" sz="1100" dirty="0"/>
          </a:p>
        </p:txBody>
      </p:sp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FE8945CA-9926-4026-817F-FD6EF7444284}"/>
              </a:ext>
            </a:extLst>
          </p:cNvPr>
          <p:cNvSpPr txBox="1">
            <a:spLocks/>
          </p:cNvSpPr>
          <p:nvPr/>
        </p:nvSpPr>
        <p:spPr>
          <a:xfrm>
            <a:off x="466725" y="1926386"/>
            <a:ext cx="8244200" cy="277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793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0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8" indent="-184148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9" indent="-176212" algn="l" defTabSz="685793" rtl="0" eaLnBrk="1" latinLnBrk="0" hangingPunct="1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8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4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1" indent="-171448" algn="l" defTabSz="685793" rtl="0" eaLnBrk="1" latinLnBrk="0" hangingPunct="1">
              <a:lnSpc>
                <a:spcPct val="90000"/>
              </a:lnSpc>
              <a:spcBef>
                <a:spcPts val="376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9703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8FB68175-47FC-429A-A4F9-3EB37F2E0C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Institute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Visualization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Interactive Systems</a:t>
            </a:r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FD5869DC-4F03-4F3C-8BDB-84DB10349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Okan Mazlum</a:t>
            </a:r>
          </a:p>
          <a:p>
            <a:endParaRPr lang="de-DE" dirty="0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2EA0181-498A-44A0-8871-B874C6A744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74400" y="2571750"/>
            <a:ext cx="542646" cy="216482"/>
          </a:xfrm>
        </p:spPr>
        <p:txBody>
          <a:bodyPr/>
          <a:lstStyle/>
          <a:p>
            <a:r>
              <a:rPr lang="de-DE" dirty="0" err="1"/>
              <a:t>e-mail</a:t>
            </a:r>
            <a:endParaRPr lang="de-DE" dirty="0"/>
          </a:p>
        </p:txBody>
      </p:sp>
      <p:sp>
        <p:nvSpPr>
          <p:cNvPr id="45" name="Textplatzhalter 44">
            <a:extLst>
              <a:ext uri="{FF2B5EF4-FFF2-40B4-BE49-F238E27FC236}">
                <a16:creationId xmlns:a16="http://schemas.microsoft.com/office/drawing/2014/main" id="{925728FE-A285-4A10-8283-557C3CD22C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 dirty="0"/>
              <a:t>st156392@stud.uni-stuttgart.de</a:t>
            </a:r>
          </a:p>
          <a:p>
            <a:endParaRPr lang="de-DE" dirty="0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5A79F41D-F620-4B2B-ACCE-CFEF5BF9EF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174400" y="3508234"/>
            <a:ext cx="2500012" cy="218691"/>
          </a:xfrm>
        </p:spPr>
        <p:txBody>
          <a:bodyPr/>
          <a:lstStyle/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Stuttgart</a:t>
            </a:r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0BFC53F1-C3CF-4DF1-AD72-65B3DB1927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Department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Computational</a:t>
            </a:r>
            <a:r>
              <a:rPr lang="de-DE" dirty="0"/>
              <a:t> </a:t>
            </a:r>
            <a:r>
              <a:rPr lang="de-DE" dirty="0" err="1"/>
              <a:t>Cognitive</a:t>
            </a:r>
            <a:r>
              <a:rPr lang="de-DE" dirty="0"/>
              <a:t> Science</a:t>
            </a:r>
          </a:p>
          <a:p>
            <a:endParaRPr lang="de-DE" dirty="0"/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3909570C-64A4-4884-9A88-F5158C61C3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Pfaffenwaldring 5a, 70569 Stuttgart</a:t>
            </a:r>
          </a:p>
          <a:p>
            <a:endParaRPr lang="de-DE" dirty="0"/>
          </a:p>
        </p:txBody>
      </p:sp>
      <p:pic>
        <p:nvPicPr>
          <p:cNvPr id="14" name="Bildplatzhalter 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>
            <a:fillRect/>
          </a:stretch>
        </p:blipFill>
        <p:spPr>
          <a:prstGeom prst="ellipse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001488950"/>
      </p:ext>
    </p:extLst>
  </p:cSld>
  <p:clrMapOvr>
    <a:masterClrMapping/>
  </p:clrMapOvr>
</p:sld>
</file>

<file path=ppt/theme/theme1.xml><?xml version="1.0" encoding="utf-8"?>
<a:theme xmlns:a="http://schemas.openxmlformats.org/drawingml/2006/main" name="Uni_Stuttgart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750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 Master D_16zu10 Institute.potx" id="{C3B3A38B-0338-49FB-B231-116B7D339AEF}" vid="{AA825256-4409-4510-8B2A-E00170960EBA}"/>
    </a:ext>
  </a:extLst>
</a:theme>
</file>

<file path=ppt/theme/theme2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489</Words>
  <Application>Microsoft Office PowerPoint</Application>
  <PresentationFormat>Bildschirmpräsentation (16:9)</PresentationFormat>
  <Paragraphs>141</Paragraphs>
  <Slides>17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19" baseType="lpstr">
      <vt:lpstr>Arial</vt:lpstr>
      <vt:lpstr>Uni_Stuttgart</vt:lpstr>
      <vt:lpstr>Insights from a very large EEG+Eyetracking dataset</vt:lpstr>
      <vt:lpstr>The Healthy Brain Network (HBN) dataset</vt:lpstr>
      <vt:lpstr>The Healthy Brain Network (HBN) dataset</vt:lpstr>
      <vt:lpstr>The Healthy Brain Network (HBN) dataset</vt:lpstr>
      <vt:lpstr>Free-view Paradigms</vt:lpstr>
      <vt:lpstr>Data Preparation</vt:lpstr>
      <vt:lpstr>Motivation</vt:lpstr>
      <vt:lpstr>Motivation</vt:lpstr>
      <vt:lpstr>Challenges of creating FRPs</vt:lpstr>
      <vt:lpstr>Challenges of creating FRPs</vt:lpstr>
      <vt:lpstr>Challenges of creating FRPs</vt:lpstr>
      <vt:lpstr>Challenges of creating FRPs</vt:lpstr>
      <vt:lpstr>Data processing and analysis</vt:lpstr>
      <vt:lpstr>Regression Model</vt:lpstr>
      <vt:lpstr>Research Goal</vt:lpstr>
      <vt:lpstr>(Image) Sources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 from a very large EEG+Eyetracking dataset</dc:title>
  <dc:creator>Okk</dc:creator>
  <cp:lastModifiedBy>Okk</cp:lastModifiedBy>
  <cp:revision>13</cp:revision>
  <dcterms:created xsi:type="dcterms:W3CDTF">2016-11-21T05:24:26Z</dcterms:created>
  <dcterms:modified xsi:type="dcterms:W3CDTF">2025-09-10T01:28:18Z</dcterms:modified>
</cp:coreProperties>
</file>